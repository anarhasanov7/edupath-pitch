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41648" y="0"/>
            <a:ext cx="73152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303520"/>
            <a:ext cx="2286000" cy="54864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731520"/>
            <a:ext cx="1645920" cy="1645920"/>
          </a:xfrm>
          <a:prstGeom prst="ellipse">
            <a:avLst/>
          </a:prstGeom>
          <a:solidFill>
            <a:srgbClr val="00A6A6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4572000"/>
            <a:ext cx="2286000" cy="2286000"/>
          </a:xfrm>
          <a:prstGeom prst="ellipse">
            <a:avLst/>
          </a:prstGeom>
          <a:solidFill>
            <a:srgbClr val="1B3A6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EDUPATH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4B41A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6400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399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University Admission to Italy</a:t>
            </a:r>
          </a:p>
          <a:p>
            <a:pPr algn="l">
              <a:spcAft>
                <a:spcPts val="999"/>
              </a:spcAft>
              <a:defRPr sz="2000" b="0">
                <a:solidFill>
                  <a:srgbClr val="B0C4DE"/>
                </a:solidFill>
                <a:latin typeface="Calibri"/>
              </a:defRPr>
            </a:pPr>
            <a:r>
              <a:t>Поступление в университеты Италии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600" b="1">
                <a:solidFill>
                  <a:srgbClr val="00A6A6"/>
                </a:solidFill>
                <a:latin typeface="Calibri"/>
              </a:defRPr>
            </a:pPr>
            <a:r>
              <a:t>Service Packages &amp; Partnership Proposal</a:t>
            </a:r>
          </a:p>
          <a:p>
            <a:pPr algn="l">
              <a:spcAft>
                <a:spcPts val="459"/>
              </a:spcAft>
              <a:defRPr sz="1300" b="0">
                <a:solidFill>
                  <a:srgbClr val="8090B0"/>
                </a:solidFill>
                <a:latin typeface="Calibri"/>
              </a:defRPr>
            </a:pPr>
            <a:r>
              <a:t>Пакеты услуг и партнёрское предложение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7080A0"/>
                </a:solidFill>
                <a:latin typeface="Calibri"/>
              </a:defRPr>
            </a:pPr>
            <a:r>
              <a:t>August 2026  |  Anar Hasanov, Italy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About Edupath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О компании Edupath Education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9436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5486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40"/>
              </a:spcAft>
              <a:defRPr sz="1800" b="1">
                <a:solidFill>
                  <a:srgbClr val="0A1F44"/>
                </a:solidFill>
                <a:latin typeface="Calibri"/>
              </a:defRPr>
            </a:pPr>
            <a:r>
              <a:t>Who we are</a:t>
            </a:r>
          </a:p>
          <a:p>
            <a:pPr algn="l">
              <a:spcAft>
                <a:spcPts val="38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62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Edupath Education is a consulting company based in Italy (near Rome). We specialize in placing international graduates into Italian universities and operate through a university channel — partnering with source universities.</a:t>
            </a:r>
          </a:p>
          <a:p>
            <a:pPr algn="l">
              <a:spcAft>
                <a:spcPts val="38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590"/>
              </a:spcAft>
              <a:defRPr sz="1300" b="0">
                <a:solidFill>
                  <a:srgbClr val="5A5A6E"/>
                </a:solidFill>
                <a:latin typeface="Calibri"/>
              </a:defRPr>
            </a:pPr>
            <a:r>
              <a:t>Edupath Education — консалтинговая компания в Италии (под Римом). Мы занимаемся поступлением выпускников в итальянские университеты через университетский канал.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280160"/>
            <a:ext cx="4754880" cy="77724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325880"/>
            <a:ext cx="1097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32588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3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Students / year</a:t>
            </a:r>
          </a:p>
          <a:p>
            <a:pPr algn="l">
              <a:spcAft>
                <a:spcPts val="31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Студентов в год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194560"/>
            <a:ext cx="4754880" cy="777240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240280"/>
            <a:ext cx="1097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3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Admission rate</a:t>
            </a:r>
          </a:p>
          <a:p>
            <a:pPr algn="l">
              <a:spcAft>
                <a:spcPts val="31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Уровень зачисления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108960"/>
            <a:ext cx="4754880" cy="777240"/>
          </a:xfrm>
          <a:prstGeom prst="round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3154680"/>
            <a:ext cx="1097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5468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3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Scholarship rate</a:t>
            </a:r>
          </a:p>
          <a:p>
            <a:pPr algn="l">
              <a:spcAft>
                <a:spcPts val="31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Стипендия DSU/EDISU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A1F44"/>
                </a:solidFill>
                <a:latin typeface="Calibri"/>
              </a:defRPr>
            </a:pPr>
            <a:r>
              <a:t>Our Advantages  |  Наши преимущества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3566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54864" cy="86868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45152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94"/>
              </a:spcAft>
              <a:defRPr sz="1300" b="1">
                <a:solidFill>
                  <a:srgbClr val="0A1F44"/>
                </a:solidFill>
                <a:latin typeface="Calibri"/>
              </a:defRPr>
            </a:pPr>
            <a:r>
              <a:t>Based in Italy</a:t>
            </a:r>
          </a:p>
          <a:p>
            <a:pPr algn="l">
              <a:spcAft>
                <a:spcPts val="364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Находимся в Италии</a:t>
            </a:r>
          </a:p>
          <a:p>
            <a:pPr algn="l">
              <a:spcAft>
                <a:spcPts val="349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Work with universities in person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572000"/>
            <a:ext cx="3566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4572000"/>
            <a:ext cx="54864" cy="8686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645152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94"/>
              </a:spcAft>
              <a:defRPr sz="1300" b="1">
                <a:solidFill>
                  <a:srgbClr val="00A6A6"/>
                </a:solidFill>
                <a:latin typeface="Calibri"/>
              </a:defRPr>
            </a:pPr>
            <a:r>
              <a:t>Scholarship specialists</a:t>
            </a:r>
          </a:p>
          <a:p>
            <a:pPr algn="l">
              <a:spcAft>
                <a:spcPts val="364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Стипендии DSU/EDISU</a:t>
            </a:r>
          </a:p>
          <a:p>
            <a:pPr algn="l">
              <a:spcAft>
                <a:spcPts val="349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Tuition + stipend + housing + meals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572000"/>
            <a:ext cx="3566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4572000"/>
            <a:ext cx="54864" cy="86868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645152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94"/>
              </a:spcAft>
              <a:defRPr sz="1300" b="1">
                <a:solidFill>
                  <a:srgbClr val="F4B41A"/>
                </a:solidFill>
                <a:latin typeface="Calibri"/>
              </a:defRPr>
            </a:pPr>
            <a:r>
              <a:t>B2B university channel</a:t>
            </a:r>
          </a:p>
          <a:p>
            <a:pPr algn="l">
              <a:spcAft>
                <a:spcPts val="364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B2B университетский канал</a:t>
            </a:r>
          </a:p>
          <a:p>
            <a:pPr algn="l">
              <a:spcAft>
                <a:spcPts val="349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Personalized, not mass B2C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577840"/>
            <a:ext cx="3566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577840"/>
            <a:ext cx="54864" cy="86868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650992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94"/>
              </a:spcAft>
              <a:defRPr sz="1300" b="1">
                <a:solidFill>
                  <a:srgbClr val="0A1F44"/>
                </a:solidFill>
                <a:latin typeface="Calibri"/>
              </a:defRPr>
            </a:pPr>
            <a:r>
              <a:t>Full-duration support</a:t>
            </a:r>
          </a:p>
          <a:p>
            <a:pPr algn="l">
              <a:spcAft>
                <a:spcPts val="364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Сопровождение до выпуска</a:t>
            </a:r>
          </a:p>
          <a:p>
            <a:pPr algn="l">
              <a:spcAft>
                <a:spcPts val="349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From application to diploma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5577840"/>
            <a:ext cx="3566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5577840"/>
            <a:ext cx="54864" cy="8686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5650992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94"/>
              </a:spcAft>
              <a:defRPr sz="1300" b="1">
                <a:solidFill>
                  <a:srgbClr val="00A6A6"/>
                </a:solidFill>
                <a:latin typeface="Calibri"/>
              </a:defRPr>
            </a:pPr>
            <a:r>
              <a:t>24/7 emergency support</a:t>
            </a:r>
          </a:p>
          <a:p>
            <a:pPr algn="l">
              <a:spcAft>
                <a:spcPts val="364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Экстренная поддержка 24/7</a:t>
            </a:r>
          </a:p>
          <a:p>
            <a:pPr algn="l">
              <a:spcAft>
                <a:spcPts val="349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Hotline for students &amp; parents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Results &amp;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Результаты и кейс-стади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Partner Universities  |  Университеты-партнёры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Università di Bologna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28600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2402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Università degli Studi di Milano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60604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5603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Università degli Studi di Padova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92608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88036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Sapienza Università di Roma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24612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2004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Politecnico di Milano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56616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5204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Politecnico di Torino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3886199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840479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Università Iuav di Venezia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20624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1605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Sorbonne Université (FR)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52628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48056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Université Paris-Saclay (FR)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84632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8006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TU München (DE)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16636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1206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Humboldt-Universität zu Berlin (DE)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486399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440679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University of Warsaw (PL)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" y="5806439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760719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Jagiellonian University (PL)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Case Studies  |  Кейс-стади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737360"/>
            <a:ext cx="5486400" cy="21031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737360"/>
            <a:ext cx="5486400" cy="54864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192024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79"/>
              </a:spcAft>
              <a:defRPr sz="1400" b="1">
                <a:solidFill>
                  <a:srgbClr val="00A6A6"/>
                </a:solidFill>
                <a:latin typeface="Calibri"/>
              </a:defRPr>
            </a:pPr>
            <a:r>
              <a:t>Case Study A  |  Кейс А</a:t>
            </a:r>
          </a:p>
          <a:p>
            <a:pPr algn="l">
              <a:spcAft>
                <a:spcPts val="280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59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Student A, Bachelor's in Economics, Azerbaijan</a:t>
            </a:r>
          </a:p>
          <a:p>
            <a:pPr algn="l">
              <a:spcAft>
                <a:spcPts val="41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Студент А, бакалавр Экономика, Азербайджан</a:t>
            </a:r>
          </a:p>
          <a:p>
            <a:pPr algn="l">
              <a:spcAft>
                <a:spcPts val="280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→ Admitted to Università di Pavia, LM-77</a:t>
            </a:r>
          </a:p>
          <a:p>
            <a:pPr algn="l">
              <a:spcAft>
                <a:spcPts val="439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→ EDISU Lombardia scholarship approved</a:t>
            </a:r>
          </a:p>
          <a:p>
            <a:pPr algn="l">
              <a:spcAft>
                <a:spcPts val="439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→ 2-year full support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023360"/>
            <a:ext cx="5486400" cy="21031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023360"/>
            <a:ext cx="5486400" cy="54864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20624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79"/>
              </a:spcAft>
              <a:defRPr sz="1400" b="1">
                <a:solidFill>
                  <a:srgbClr val="F4B41A"/>
                </a:solidFill>
                <a:latin typeface="Calibri"/>
              </a:defRPr>
            </a:pPr>
            <a:r>
              <a:t>Case Study B  |  Кейс Б</a:t>
            </a:r>
          </a:p>
          <a:p>
            <a:pPr algn="l">
              <a:spcAft>
                <a:spcPts val="280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59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Student B, Master's in International Relations</a:t>
            </a:r>
          </a:p>
          <a:p>
            <a:pPr algn="l">
              <a:spcAft>
                <a:spcPts val="41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Студент Б, магистратура Международные отношения</a:t>
            </a:r>
          </a:p>
          <a:p>
            <a:pPr algn="l">
              <a:spcAft>
                <a:spcPts val="280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→ Admitted to Università di Macerata, LM-52</a:t>
            </a:r>
          </a:p>
          <a:p>
            <a:pPr algn="l">
              <a:spcAft>
                <a:spcPts val="439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→ ERDIS Marche scholarship (free dorm + stipend)</a:t>
            </a:r>
          </a:p>
          <a:p>
            <a:pPr algn="l">
              <a:spcAft>
                <a:spcPts val="439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→ Full support package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"/>
            <a:ext cx="1828800" cy="1828800"/>
          </a:xfrm>
          <a:prstGeom prst="ellipse">
            <a:avLst/>
          </a:prstGeom>
          <a:solidFill>
            <a:srgbClr val="1B3A6B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2286000" cy="2286000"/>
          </a:xfrm>
          <a:prstGeom prst="ellipse">
            <a:avLst/>
          </a:prstGeom>
          <a:solidFill>
            <a:srgbClr val="00A6A6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DSU/EDISU Scholarships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Региональные стипендии Италии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2743200" cy="54864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0972800" cy="1097280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4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scholarship covers:  tuition + annual stipend up to €7,000 + accommodation + meals</a:t>
            </a:r>
          </a:p>
          <a:p>
            <a:pPr algn="l">
              <a:spcAft>
                <a:spcPts val="620"/>
              </a:spcAft>
              <a:defRPr sz="1400" b="0">
                <a:solidFill>
                  <a:srgbClr val="D0F0F0"/>
                </a:solidFill>
                <a:latin typeface="Calibri"/>
              </a:defRPr>
            </a:pPr>
            <a:r>
              <a:t>Стипендия покрывает:  обучение + стипендия до €7,000 + общежитие + питание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2651760" cy="164592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2286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6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Tuition</a:t>
            </a:r>
          </a:p>
          <a:p>
            <a:pPr algn="ctr">
              <a:spcAft>
                <a:spcPts val="45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Обучение</a:t>
            </a:r>
          </a:p>
          <a:p>
            <a:pPr algn="ctr">
              <a:spcAft>
                <a:spcPts val="32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€0 for student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926080"/>
            <a:ext cx="2651760" cy="1645920"/>
          </a:xfrm>
          <a:prstGeom prst="round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3108960"/>
            <a:ext cx="2286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6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Stipend</a:t>
            </a:r>
          </a:p>
          <a:p>
            <a:pPr algn="ctr">
              <a:spcAft>
                <a:spcPts val="45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Стипендия</a:t>
            </a:r>
          </a:p>
          <a:p>
            <a:pPr algn="ctr">
              <a:spcAft>
                <a:spcPts val="32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519"/>
              </a:spcAft>
              <a:defRPr sz="1600" b="1">
                <a:solidFill>
                  <a:srgbClr val="0A1F44"/>
                </a:solidFill>
                <a:latin typeface="Calibri"/>
              </a:defRPr>
            </a:pPr>
            <a:r>
              <a:t>Up to €7,000/year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926080"/>
            <a:ext cx="2651760" cy="1645920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39" y="3108960"/>
            <a:ext cx="2286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6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Accommodation</a:t>
            </a:r>
          </a:p>
          <a:p>
            <a:pPr algn="ctr">
              <a:spcAft>
                <a:spcPts val="45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Общежитие</a:t>
            </a:r>
          </a:p>
          <a:p>
            <a:pPr algn="ctr">
              <a:spcAft>
                <a:spcPts val="32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Free dormitory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2926080"/>
            <a:ext cx="2651760" cy="164592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599" y="3108960"/>
            <a:ext cx="2286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6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Meals</a:t>
            </a:r>
          </a:p>
          <a:p>
            <a:pPr algn="ctr">
              <a:spcAft>
                <a:spcPts val="45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Питание</a:t>
            </a:r>
          </a:p>
          <a:p>
            <a:pPr algn="ctr">
              <a:spcAft>
                <a:spcPts val="32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Meal plan included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37760"/>
            <a:ext cx="10972800" cy="118872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99"/>
              </a:spcAft>
              <a:defRPr sz="1500" b="1">
                <a:solidFill>
                  <a:srgbClr val="F4B41A"/>
                </a:solidFill>
                <a:latin typeface="Calibri"/>
              </a:defRPr>
            </a:pPr>
            <a:r>
              <a:t>How it works  |  Как это работает</a:t>
            </a:r>
          </a:p>
          <a:p>
            <a:pPr algn="l">
              <a:spcAft>
                <a:spcPts val="4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Awarded based on family income (ISEE) + academic performance. We handle ISEE preparation, submission, appeals, and annual renewal.</a:t>
            </a:r>
          </a:p>
          <a:p>
            <a:pPr algn="l">
              <a:spcAft>
                <a:spcPts val="439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Назначается по доходу семьи (ISEE) + успеваемость. Мы готовим ISEE, подаём, апеллируем, продлеваем.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Service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Пакеты услуг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7315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8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Package 1 — Admission Concierge</a:t>
            </a:r>
          </a:p>
          <a:p>
            <a:pPr algn="l">
              <a:spcAft>
                <a:spcPts val="32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Пакет 1 — Консьерж поступления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A1F44"/>
                </a:solidFill>
                <a:latin typeface="Calibri"/>
              </a:defRPr>
            </a:pPr>
            <a:r>
              <a:t>€1,950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A5A6E"/>
                </a:solidFill>
                <a:latin typeface="Calibri"/>
              </a:defRPr>
            </a:pPr>
            <a:r>
              <a:t>Duration: 2–4 months  |  Срок: 2–4 месяца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A6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6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Program selection (up to 5 universities)</a:t>
            </a:r>
          </a:p>
          <a:p>
            <a:pPr algn="l">
              <a:spcAft>
                <a:spcPts val="25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Подбор программ (до 5 вузов)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A6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661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6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Document audit &amp; submission</a:t>
            </a:r>
          </a:p>
          <a:p>
            <a:pPr algn="l">
              <a:spcAft>
                <a:spcPts val="25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Аудит документов и подача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A6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0233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6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Tracking &amp; admission confirmation</a:t>
            </a:r>
          </a:p>
          <a:p>
            <a:pPr algn="l">
              <a:spcAft>
                <a:spcPts val="25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Отслеживание и подтверждение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A6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805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6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24/7 emergency support</a:t>
            </a:r>
          </a:p>
          <a:p>
            <a:pPr algn="l">
              <a:spcAft>
                <a:spcPts val="25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Экстренная поддержка 24/7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A5A6E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377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6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DSU/EDISU scholarship</a:t>
            </a:r>
          </a:p>
          <a:p>
            <a:pPr algn="l">
              <a:spcAft>
                <a:spcPts val="25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Стипендия DSU/EDISU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A5A6E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3949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6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Codice Fiscale + bank account</a:t>
            </a:r>
          </a:p>
          <a:p>
            <a:pPr algn="l">
              <a:spcAft>
                <a:spcPts val="25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Codice Fiscale + счёт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521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A5A6E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8521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6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Full-duration support</a:t>
            </a:r>
          </a:p>
          <a:p>
            <a:pPr algn="l">
              <a:spcAft>
                <a:spcPts val="25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Сопровождение на весь срок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28016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280160"/>
            <a:ext cx="5303520" cy="7315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325880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8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Package 2 — Full Package</a:t>
            </a:r>
          </a:p>
          <a:p>
            <a:pPr algn="l">
              <a:spcAft>
                <a:spcPts val="320"/>
              </a:spcAft>
              <a:defRPr sz="1200" b="0">
                <a:solidFill>
                  <a:srgbClr val="B0E0E0"/>
                </a:solidFill>
                <a:latin typeface="Calibri"/>
              </a:defRPr>
            </a:pPr>
            <a:r>
              <a:t>Пакет 2 — Полный пакет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1945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0A6A6"/>
                </a:solidFill>
                <a:latin typeface="Calibri"/>
              </a:defRPr>
            </a:pPr>
            <a:r>
              <a:t>€2,340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A5A6E"/>
                </a:solidFill>
                <a:latin typeface="Calibri"/>
              </a:defRPr>
            </a:pPr>
            <a:r>
              <a:t>Duration: 2 years  |  Срок: 2 года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108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A6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1089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6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Program selection (up to 5 universities)</a:t>
            </a:r>
          </a:p>
          <a:p>
            <a:pPr algn="l">
              <a:spcAft>
                <a:spcPts val="25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Подбор программ (до 5 вузов)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5661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A6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5661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6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Document audit &amp; submission</a:t>
            </a:r>
          </a:p>
          <a:p>
            <a:pPr algn="l">
              <a:spcAft>
                <a:spcPts val="25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Аудит документов и подача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0233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A6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0233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6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DSU/EDISU scholarship + ISEE + renewal</a:t>
            </a:r>
          </a:p>
          <a:p>
            <a:pPr algn="l">
              <a:spcAft>
                <a:spcPts val="25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Стипендия DSU/EDISU + ISEE + продление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4805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A6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4805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6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Codice Fiscale + bank account</a:t>
            </a:r>
          </a:p>
          <a:p>
            <a:pPr algn="l">
              <a:spcAft>
                <a:spcPts val="25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Codice Fiscale + банковский счёт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9377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A6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9377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6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Full-duration support (entire degree)</a:t>
            </a:r>
          </a:p>
          <a:p>
            <a:pPr algn="l">
              <a:spcAft>
                <a:spcPts val="25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Сопровождение на весь срок обучения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394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A6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3949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6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24/7 emergency support</a:t>
            </a:r>
          </a:p>
          <a:p>
            <a:pPr algn="l">
              <a:spcAft>
                <a:spcPts val="25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Экстренная поддержка 24/7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8521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A6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58521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6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Scholarship: tuition + €7,000 + housing + meals</a:t>
            </a:r>
          </a:p>
          <a:p>
            <a:pPr algn="l">
              <a:spcAft>
                <a:spcPts val="25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Стипендия: обучение + €7,000 + жильё + питание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Add-ons &amp; Full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Доп. услуги и полная стоимость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Add-on Services  |  Дополнительные услуги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86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" cy="8229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A1F44"/>
                </a:solidFill>
                <a:latin typeface="Calibri"/>
              </a:defRPr>
            </a:pPr>
            <a:r>
              <a:t>Housing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848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Поиск жилья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874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A1F44"/>
                </a:solidFill>
                <a:latin typeface="Calibri"/>
              </a:defRPr>
            </a:pPr>
            <a:r>
              <a:t>€455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 month — room/apartment + contract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486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54864" cy="82296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706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A6A6"/>
                </a:solidFill>
                <a:latin typeface="Calibri"/>
              </a:defRPr>
            </a:pPr>
            <a:r>
              <a:t>Airport pickup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4495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Встреча в аэропорту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8346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A6A6"/>
                </a:solidFill>
                <a:latin typeface="Calibri"/>
              </a:defRPr>
            </a:pPr>
            <a:r>
              <a:t>€130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461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Rome/Milan airport + transfer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86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54864" cy="82296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7307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4B41A"/>
                </a:solidFill>
                <a:latin typeface="Calibri"/>
              </a:defRPr>
            </a:pPr>
            <a:r>
              <a:t>Adaptation package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005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Адаптационный пакет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79476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F4B41A"/>
                </a:solidFill>
                <a:latin typeface="Calibri"/>
              </a:defRPr>
            </a:pPr>
            <a:r>
              <a:t>€520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0624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SIM card, city orientation, transport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617720"/>
            <a:ext cx="5486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617720"/>
            <a:ext cx="54864" cy="8229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6908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A1F44"/>
                </a:solidFill>
                <a:latin typeface="Calibri"/>
              </a:defRPr>
            </a:pPr>
            <a:r>
              <a:t>TOLC/IMAT prep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96519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Подготовка TOLC/IMAT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7548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A1F44"/>
                </a:solidFill>
                <a:latin typeface="Calibri"/>
              </a:defRPr>
            </a:pPr>
            <a:r>
              <a:t>€390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6636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Materials + exam registration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Full Cost of Studying in Italy  |  Полная стоимость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7373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17830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Edupath services (Pkg 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178308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€2,340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178308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A6E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1945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22402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Flights (round trip)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24028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€600–1,200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224028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A6E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6517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26974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Health insurance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69748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€150–350/yr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269748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A6E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1089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31546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Personal expenses (1st mo.)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315468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€500–800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315468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A6E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566160"/>
            <a:ext cx="5212080" cy="38404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36118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University tuition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361188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Calibri"/>
              </a:defRPr>
            </a:pPr>
            <a:r>
              <a:t>€200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361188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A6E"/>
                </a:solidFill>
                <a:latin typeface="Calibri"/>
              </a:defRPr>
            </a:pPr>
            <a:r>
              <a:t>Scholarship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4023360"/>
            <a:ext cx="5212080" cy="38404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40690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Accommodation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406908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Calibri"/>
              </a:defRPr>
            </a:pPr>
            <a:r>
              <a:t>€0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406908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A6E"/>
                </a:solidFill>
                <a:latin typeface="Calibri"/>
              </a:defRPr>
            </a:pPr>
            <a:r>
              <a:t>Scholarship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4480560"/>
            <a:ext cx="5212080" cy="38404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45262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Meals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452628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Calibri"/>
              </a:defRPr>
            </a:pPr>
            <a:r>
              <a:t>€0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452628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A6E"/>
                </a:solidFill>
                <a:latin typeface="Calibri"/>
              </a:defRPr>
            </a:pPr>
            <a:r>
              <a:t>Scholarship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9377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49834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Annual stipend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498348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41A"/>
                </a:solidFill>
                <a:latin typeface="Calibri"/>
              </a:defRPr>
            </a:pPr>
            <a:r>
              <a:t>Up to €7,000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498348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A6E"/>
                </a:solidFill>
                <a:latin typeface="Calibri"/>
              </a:defRPr>
            </a:pPr>
            <a:r>
              <a:t>Paid to student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0" y="5486400"/>
            <a:ext cx="5212080" cy="64008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0" y="553212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4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Total student start-up cost: €3,590 – €4,690</a:t>
            </a:r>
          </a:p>
          <a:p>
            <a:pPr algn="l">
              <a:spcAft>
                <a:spcPts val="310"/>
              </a:spcAft>
              <a:defRPr sz="1100" b="0">
                <a:solidFill>
                  <a:srgbClr val="B0C4DE"/>
                </a:solidFill>
                <a:latin typeface="Calibri"/>
              </a:defRPr>
            </a:pPr>
            <a:r>
              <a:t>Итого затрат студента (старт): €3,590 – €4,690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"/>
            <a:ext cx="1828800" cy="1828800"/>
          </a:xfrm>
          <a:prstGeom prst="ellipse">
            <a:avLst/>
          </a:prstGeom>
          <a:solidFill>
            <a:srgbClr val="1B3A6B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Safety &amp; Emergency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Безопасность и экстренная поддержка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743200" cy="54864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0972800" cy="914400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6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24/7 Hotline  |  Горячая линия 24/7</a:t>
            </a:r>
          </a:p>
          <a:p>
            <a:pPr algn="l">
              <a:spcAft>
                <a:spcPts val="519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+39 328 081 0613 — for students and parents  |  для студентов и родителей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3566160" cy="137160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Local Contact</a:t>
            </a:r>
          </a:p>
          <a:p>
            <a:pPr algn="l">
              <a:spcAft>
                <a:spcPts val="439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Локальный контакт</a:t>
            </a:r>
          </a:p>
          <a:p>
            <a:pPr algn="l">
              <a:spcAft>
                <a:spcPts val="28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1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Edupath rep in every university 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566160" cy="1371600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92608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Parent Updates</a:t>
            </a:r>
          </a:p>
          <a:p>
            <a:pPr algn="l">
              <a:spcAft>
                <a:spcPts val="439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Связь с родителями</a:t>
            </a:r>
          </a:p>
          <a:p>
            <a:pPr algn="l">
              <a:spcAft>
                <a:spcPts val="28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1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Updates every 2 weeks on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43200"/>
            <a:ext cx="3566160" cy="1371600"/>
          </a:xfrm>
          <a:prstGeom prst="round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92608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Lost Documents</a:t>
            </a:r>
          </a:p>
          <a:p>
            <a:pPr algn="l">
              <a:spcAft>
                <a:spcPts val="439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Потеря документов</a:t>
            </a:r>
          </a:p>
          <a:p>
            <a:pPr algn="l">
              <a:spcAft>
                <a:spcPts val="28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1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Passport replacement via consulate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3566160" cy="137160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Legal Assistance</a:t>
            </a:r>
          </a:p>
          <a:p>
            <a:pPr algn="l">
              <a:spcAft>
                <a:spcPts val="439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Юридическая помощь</a:t>
            </a:r>
          </a:p>
          <a:p>
            <a:pPr algn="l">
              <a:spcAft>
                <a:spcPts val="28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1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Coordination with local lawyer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389120"/>
            <a:ext cx="3566160" cy="1371600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57200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Psychological Support</a:t>
            </a:r>
          </a:p>
          <a:p>
            <a:pPr algn="l">
              <a:spcAft>
                <a:spcPts val="439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Психологическая поддержка</a:t>
            </a:r>
          </a:p>
          <a:p>
            <a:pPr algn="l">
              <a:spcAft>
                <a:spcPts val="28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1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English-speaking psychologist referral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389120"/>
            <a:ext cx="3566160" cy="137160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457200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Emergency Response</a:t>
            </a:r>
          </a:p>
          <a:p>
            <a:pPr algn="l">
              <a:spcAft>
                <a:spcPts val="439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Экстренный запрос</a:t>
            </a:r>
          </a:p>
          <a:p>
            <a:pPr algn="l">
              <a:spcAft>
                <a:spcPts val="28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1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Response within 2 hours, 24/7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Partnership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Условия партнёрства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5486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Commission  |  Комиссия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79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15% of package price per admitted student</a:t>
            </a:r>
          </a:p>
          <a:p>
            <a:pPr algn="l">
              <a:spcAft>
                <a:spcPts val="41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15% от стоимости пакета за каждого студента</a:t>
            </a:r>
          </a:p>
          <a:p>
            <a:pPr algn="l">
              <a:spcAft>
                <a:spcPts val="32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79"/>
              </a:spcAft>
              <a:defRPr sz="1400" b="1">
                <a:solidFill>
                  <a:srgbClr val="00A6A6"/>
                </a:solidFill>
                <a:latin typeface="Calibri"/>
              </a:defRPr>
            </a:pPr>
            <a:r>
              <a:t>Example: 5 students × €2,340 × 15% = €1,755 per cycle</a:t>
            </a:r>
          </a:p>
          <a:p>
            <a:pPr algn="l">
              <a:spcAft>
                <a:spcPts val="41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Alternatives: 10% student discount, or combined (5% + 10%)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303520" cy="5486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2588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Payment Terms  |  Условия оплаты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94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Student: 50% on signing, 50% after admission</a:t>
            </a:r>
          </a:p>
          <a:p>
            <a:pPr algn="l">
              <a:spcAft>
                <a:spcPts val="364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Студент: 50% при подписании, 50% после зачисления</a:t>
            </a:r>
          </a:p>
          <a:p>
            <a:pPr algn="l">
              <a:spcAft>
                <a:spcPts val="259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394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Partner commission: within 30 days of admission</a:t>
            </a:r>
          </a:p>
          <a:p>
            <a:pPr algn="l">
              <a:spcAft>
                <a:spcPts val="364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Комиссия партнёру: в течение 30 дней</a:t>
            </a:r>
          </a:p>
          <a:p>
            <a:pPr algn="l">
              <a:spcAft>
                <a:spcPts val="259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379"/>
              </a:spcAft>
              <a:defRPr sz="1200" b="1">
                <a:solidFill>
                  <a:srgbClr val="0A1F44"/>
                </a:solidFill>
                <a:latin typeface="Calibri"/>
              </a:defRPr>
            </a:pPr>
            <a:r>
              <a:t>Payment in EUR via bank transfer  |  Оплата в евро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Refund Policy  |  Политика возврата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97680"/>
            <a:ext cx="1106424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54864" cy="411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Not admitted to any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3434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Calibri"/>
              </a:defRPr>
            </a:pPr>
            <a:r>
              <a:t>100% refund minus €195 admin fee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00600"/>
            <a:ext cx="1106424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00600"/>
            <a:ext cx="54864" cy="41148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463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Admitted but no scholarship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8463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41A"/>
                </a:solidFill>
                <a:latin typeface="Calibri"/>
              </a:defRPr>
            </a:pPr>
            <a:r>
              <a:t>50% refund of Package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03520"/>
            <a:ext cx="1106424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303520"/>
            <a:ext cx="54864" cy="411480"/>
          </a:xfrm>
          <a:prstGeom prst="rect">
            <a:avLst/>
          </a:prstGeom>
          <a:solidFill>
            <a:srgbClr val="5A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Student's fault (missed deadlines)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3492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A5A6E"/>
                </a:solidFill>
                <a:latin typeface="Calibri"/>
              </a:defRPr>
            </a:pPr>
            <a:r>
              <a:t>No refund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06440"/>
            <a:ext cx="1106424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54864" cy="411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8521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Force majeure (visa/policy change)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8521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Calibri"/>
              </a:defRPr>
            </a:pPr>
            <a:r>
              <a:t>100% refund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SLA &amp; Strategic 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SLA и стратегические компоненты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Service Level Agreement  |  SLA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86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" cy="5029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44"/>
                </a:solidFill>
                <a:latin typeface="Calibri"/>
              </a:defRPr>
            </a:pPr>
            <a:r>
              <a:t>Student inquiry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105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Within 48 hours (business days)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5486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54864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0487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A6A6"/>
                </a:solidFill>
                <a:latin typeface="Calibri"/>
              </a:defRPr>
            </a:pPr>
            <a:r>
              <a:t>Parent inquiry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40487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Within 24 hours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26080"/>
            <a:ext cx="5486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926080"/>
            <a:ext cx="54864" cy="50292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9923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4B41A"/>
                </a:solidFill>
                <a:latin typeface="Calibri"/>
              </a:defRPr>
            </a:pPr>
            <a:r>
              <a:t>Emergency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9923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Within 2 hours (24/7)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5486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54864" cy="5029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9359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A1F44"/>
                </a:solidFill>
                <a:latin typeface="Calibri"/>
              </a:defRPr>
            </a:pPr>
            <a:r>
              <a:t>Partner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5935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Quarterly report on all students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5486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54864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8795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A6A6"/>
                </a:solidFill>
                <a:latin typeface="Calibri"/>
              </a:defRPr>
            </a:pPr>
            <a:r>
              <a:t>Escalation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879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Direct to Anar Hasanov → partner mgmt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Strategic Components  |  Стратегические компоненты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737360"/>
            <a:ext cx="5212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737360"/>
            <a:ext cx="54864" cy="7772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18105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40"/>
              </a:spcAft>
              <a:defRPr sz="1400" b="1">
                <a:solidFill>
                  <a:srgbClr val="0A1F44"/>
                </a:solidFill>
                <a:latin typeface="Calibri"/>
              </a:defRPr>
            </a:pPr>
            <a:r>
              <a:t>Faculty Exchange</a:t>
            </a:r>
          </a:p>
          <a:p>
            <a:pPr algn="l">
              <a:spcAft>
                <a:spcPts val="310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Обмен преподавателями</a:t>
            </a:r>
          </a:p>
          <a:p>
            <a:pPr algn="l">
              <a:spcAft>
                <a:spcPts val="31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1–2 faculty/year — guest lectures in Italy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651760"/>
            <a:ext cx="5212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2651760"/>
            <a:ext cx="54864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7249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40"/>
              </a:spcAft>
              <a:defRPr sz="1400" b="1">
                <a:solidFill>
                  <a:srgbClr val="00A6A6"/>
                </a:solidFill>
                <a:latin typeface="Calibri"/>
              </a:defRPr>
            </a:pPr>
            <a:r>
              <a:t>Summer Schools</a:t>
            </a:r>
          </a:p>
          <a:p>
            <a:pPr algn="l">
              <a:spcAft>
                <a:spcPts val="310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Летние школы</a:t>
            </a:r>
          </a:p>
          <a:p>
            <a:pPr algn="l">
              <a:spcAft>
                <a:spcPts val="31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Joint 1–2 week program in Italy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566160"/>
            <a:ext cx="5212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566160"/>
            <a:ext cx="54864" cy="77724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6393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40"/>
              </a:spcAft>
              <a:defRPr sz="1400" b="1">
                <a:solidFill>
                  <a:srgbClr val="F4B41A"/>
                </a:solidFill>
                <a:latin typeface="Calibri"/>
              </a:defRPr>
            </a:pPr>
            <a:r>
              <a:t>Branding</a:t>
            </a:r>
          </a:p>
          <a:p>
            <a:pPr algn="l">
              <a:spcAft>
                <a:spcPts val="310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Брендинг</a:t>
            </a:r>
          </a:p>
          <a:p>
            <a:pPr algn="l">
              <a:spcAft>
                <a:spcPts val="31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Partner logo on Edupath materials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480560"/>
            <a:ext cx="5212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4480560"/>
            <a:ext cx="54864" cy="7772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45537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40"/>
              </a:spcAft>
              <a:defRPr sz="1400" b="1">
                <a:solidFill>
                  <a:srgbClr val="0A1F44"/>
                </a:solidFill>
                <a:latin typeface="Calibri"/>
              </a:defRPr>
            </a:pPr>
            <a:r>
              <a:t>Training</a:t>
            </a:r>
          </a:p>
          <a:p>
            <a:pPr algn="l">
              <a:spcAft>
                <a:spcPts val="310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Тренинги</a:t>
            </a:r>
          </a:p>
          <a:p>
            <a:pPr algn="l">
              <a:spcAft>
                <a:spcPts val="31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Quarterly training on Italian education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029200"/>
            <a:ext cx="11064240" cy="118872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12064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19"/>
              </a:spcAft>
              <a:defRPr sz="1600" b="1">
                <a:solidFill>
                  <a:srgbClr val="F4B41A"/>
                </a:solidFill>
                <a:latin typeface="Calibri"/>
              </a:defRPr>
            </a:pPr>
            <a:r>
              <a:t>Pilot Program  |  Пилотный проект</a:t>
            </a:r>
          </a:p>
          <a:p>
            <a:pPr algn="l">
              <a:spcAft>
                <a:spcPts val="4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3–5 students in the first cycle, free introductory online session, no obligations. Due diligence: 4–6 weeks before pilot.</a:t>
            </a:r>
          </a:p>
          <a:p>
            <a:pPr algn="l">
              <a:spcAft>
                <a:spcPts val="439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3–5 студентов, бесплатная сессия, без обязательств. Due diligence: 4–6 недель.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Partner Universities — Architecture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Вузы-партнёры — Архитектура и Дизайн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Architecture  |  Архитектура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Politecnico di Milano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74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Milan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874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74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874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0A1F44"/>
                </a:solidFill>
                <a:latin typeface="Calibri"/>
              </a:defRPr>
            </a:pPr>
            <a:r>
              <a:t>TOLC-A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3172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774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Politecnico di Torino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774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Turin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37744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37744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774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0A1F44"/>
                </a:solidFill>
                <a:latin typeface="Calibri"/>
              </a:defRPr>
            </a:pPr>
            <a:r>
              <a:t>TOLC-A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83464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803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Sapienza Università di Roma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88036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Rome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288036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88036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88036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0A1F44"/>
                </a:solidFill>
                <a:latin typeface="Calibri"/>
              </a:defRPr>
            </a:pPr>
            <a:r>
              <a:t>TOLC-A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33756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3832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Iuav di Venezia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3832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Venice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338328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38328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3832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0A1F44"/>
                </a:solidFill>
                <a:latin typeface="Calibri"/>
              </a:defRPr>
            </a:pPr>
            <a:r>
              <a:t>TOLC-A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84048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8862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di Firenze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38862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Florence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38862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8862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38862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0A1F44"/>
                </a:solidFill>
                <a:latin typeface="Calibri"/>
              </a:defRPr>
            </a:pPr>
            <a:r>
              <a:t>TOLC-A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34340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3891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di Napoli Federico II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3891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Naples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0" y="43891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4389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43891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0A1F44"/>
                </a:solidFill>
                <a:latin typeface="Calibri"/>
              </a:defRPr>
            </a:pPr>
            <a:r>
              <a:t>TOLC-A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1280160"/>
            <a:ext cx="5303520" cy="4572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1298448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Design  |  Дизайн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1828800"/>
            <a:ext cx="53035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18653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Politecnico di Milano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1865376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6E"/>
                </a:solidFill>
                <a:latin typeface="Calibri"/>
              </a:defRPr>
            </a:pPr>
            <a:r>
              <a:t>Milan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1865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1865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2286000"/>
            <a:ext cx="53035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23225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Politecnico di Torino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2322576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6E"/>
                </a:solidFill>
                <a:latin typeface="Calibri"/>
              </a:defRPr>
            </a:pPr>
            <a:r>
              <a:t>Turin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23225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23225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2743200"/>
            <a:ext cx="53035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27797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IED — Istituto Europeo di Design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2779776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6E"/>
                </a:solidFill>
                <a:latin typeface="Calibri"/>
              </a:defRPr>
            </a:pPr>
            <a:r>
              <a:t>Milan/Rome/Turin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4160" y="27797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27797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9360" y="3200400"/>
            <a:ext cx="53035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32369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NABA — Nuova Accademia di Belle Arti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3236976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6E"/>
                </a:solidFill>
                <a:latin typeface="Calibri"/>
              </a:defRPr>
            </a:pPr>
            <a:r>
              <a:t>Milan/Rome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60" y="32369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0" y="32369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09360" y="3657600"/>
            <a:ext cx="53035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92240" y="36941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Domus Academy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35440" y="3694176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6E"/>
                </a:solidFill>
                <a:latin typeface="Calibri"/>
              </a:defRPr>
            </a:pPr>
            <a:r>
              <a:t>Milan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24160" y="36941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36941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09360" y="4114800"/>
            <a:ext cx="53035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92240" y="41513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Iuav di Venezia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35440" y="4151376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6E"/>
                </a:solidFill>
                <a:latin typeface="Calibri"/>
              </a:defRPr>
            </a:pPr>
            <a:r>
              <a:t>Venice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24160" y="4151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IT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0" y="4151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09360" y="4572000"/>
            <a:ext cx="53035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92240" y="46085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SPD — Scuola Politecnica di Design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35440" y="4608576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6E"/>
                </a:solidFill>
                <a:latin typeface="Calibri"/>
              </a:defRPr>
            </a:pPr>
            <a:r>
              <a:t>Milan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24160" y="46085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972800" y="46085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8640" y="5303520"/>
            <a:ext cx="11064240" cy="82296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39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Public: €1,000–3,500/year (DSU/EDISU applies)  |  Private: €10,000–20,000/year (no DSU/EDISU)</a:t>
            </a:r>
          </a:p>
          <a:p>
            <a:pPr algn="l">
              <a:spcAft>
                <a:spcPts val="41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Государственные: €1,000–3,500/год (DSU/EDISU)  |  Частные: €10,000–20,000/год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Partner Universities — Business &amp;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Вузы-партнёры — Бизнес и Экономика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298448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298448"/>
            <a:ext cx="731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298448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298448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298448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Programs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8288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Bocconi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828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Milan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28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Private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828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288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Intl. Management, Finance, Marketing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240280"/>
            <a:ext cx="11064240" cy="4114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286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LUISS Guido Carli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2860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Rome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2860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Private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2860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2860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2860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Management, Economics, Politics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69748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27432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di Bologna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27432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Bologna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27432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27432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7432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7432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Business &amp; Economics, LM-77, LM-56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154680"/>
            <a:ext cx="11064240" cy="4114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2004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Cattolica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32004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Milan/Rome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32004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Private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2004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2004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2004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Business Mgmt, Intl. Business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61188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6576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Ca' Foscari Venezia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36576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Venice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36576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36576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36576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36576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Management, Economics, Intl. Marketing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069080"/>
            <a:ext cx="11064240" cy="4114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1148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di Padova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4114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Padua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0" y="4114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4114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4114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41148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Business Admin, Economics &amp; Finance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52628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4572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Sapienza di Roma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0" y="45720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Rome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45720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45720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720" y="45720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45720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Economia e Commercio, LM-77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983480"/>
            <a:ext cx="11064240" cy="4114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50292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di Pavia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91840" y="50292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Pavia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80560" y="50292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12080" y="50292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0720" y="50292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50292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LM-77, LM-56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54864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di Perugia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91840" y="54864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Perugia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80560" y="54864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12080" y="54864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60720" y="54864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54864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LM-77, Intl. Economics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8640" y="5943600"/>
            <a:ext cx="11064240" cy="457200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2960" y="5971032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Also: IT Management, Law, Foreign Languages, Engineering, Fashion  |  Также: IT-менеджмент, Право, Языки, Инженерия, Fashion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Admission Requirements &amp;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Требования и сроки поступления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Requirements  |  Требования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" cy="41148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A1F44"/>
                </a:solidFill>
                <a:latin typeface="Calibri"/>
              </a:defRPr>
            </a:pPr>
            <a:r>
              <a:t>GPA (Bachelor's)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783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Min 75/100 or 3.0/4.0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4028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40280"/>
            <a:ext cx="54864" cy="41148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860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A1F44"/>
                </a:solidFill>
                <a:latin typeface="Calibri"/>
              </a:defRPr>
            </a:pPr>
            <a:r>
              <a:t>GPA (Master's)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Min 80/100 or 3.2/4.0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4320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54864" cy="411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7889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Calibri"/>
              </a:defRPr>
            </a:pPr>
            <a:r>
              <a:t>English (EN programs)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7889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IELTS 6.0–6.5 or TOEFL 80–90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4612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46120"/>
            <a:ext cx="54864" cy="41148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918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41A"/>
                </a:solidFill>
                <a:latin typeface="Calibri"/>
              </a:defRPr>
            </a:pPr>
            <a:r>
              <a:t>Italian (IT programs)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2918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B2 — CILS, CELI, or PLIDA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49039"/>
            <a:ext cx="54864" cy="41148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794759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A1F44"/>
                </a:solidFill>
                <a:latin typeface="Calibri"/>
              </a:defRPr>
            </a:pPr>
            <a:r>
              <a:t>GMAT/GRE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794759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Some business programs (Bocconi, LUISS)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25196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251960"/>
            <a:ext cx="54864" cy="411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2976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Calibri"/>
              </a:defRPr>
            </a:pPr>
            <a:r>
              <a:t>Portfolio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297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Architecture and design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5488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754880"/>
            <a:ext cx="54864" cy="41148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800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41A"/>
                </a:solidFill>
                <a:latin typeface="Calibri"/>
              </a:defRPr>
            </a:pPr>
            <a:r>
              <a:t>Motivation letter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800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Most Master's programs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Entrance Exams  |  Вступительные экзамены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1737360"/>
            <a:ext cx="521208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1737360"/>
            <a:ext cx="54864" cy="38404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17739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A1F44"/>
                </a:solidFill>
                <a:latin typeface="Calibri"/>
              </a:defRPr>
            </a:pPr>
            <a:r>
              <a:t>TOLC-A / TOLC-AV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177393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Architecture (limited enrollment)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194560"/>
            <a:ext cx="521208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2194560"/>
            <a:ext cx="54864" cy="38404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22311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Calibri"/>
              </a:defRPr>
            </a:pPr>
            <a:r>
              <a:t>TOLC-I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223113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Engineering, some design (PoliMi)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2651760"/>
            <a:ext cx="521208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2651760"/>
            <a:ext cx="54864" cy="384048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26883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41A"/>
                </a:solidFill>
                <a:latin typeface="Calibri"/>
              </a:defRPr>
            </a:pPr>
            <a:r>
              <a:t>TOLC-E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268833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Economics (some programs)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3108960"/>
            <a:ext cx="521208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3108960"/>
            <a:ext cx="54864" cy="38404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31455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A1F44"/>
                </a:solidFill>
                <a:latin typeface="Calibri"/>
              </a:defRPr>
            </a:pPr>
            <a:r>
              <a:t>IMAT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314553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Medicine (in English)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3566160"/>
            <a:ext cx="521208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0" y="3566160"/>
            <a:ext cx="54864" cy="38404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36027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Calibri"/>
              </a:defRPr>
            </a:pPr>
            <a:r>
              <a:t>Bocconi Test / SAT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360273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Bocconi Bachelor's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2062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Timeline  |  Сроки</a:t>
            </a:r>
          </a:p>
        </p:txBody>
      </p:sp>
      <p:sp>
        <p:nvSpPr>
          <p:cNvPr id="57" name="Oval 56"/>
          <p:cNvSpPr/>
          <p:nvPr/>
        </p:nvSpPr>
        <p:spPr>
          <a:xfrm>
            <a:off x="6492240" y="4709160"/>
            <a:ext cx="182880" cy="182880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0" y="46634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A1F44"/>
                </a:solidFill>
                <a:latin typeface="Calibri"/>
              </a:defRPr>
            </a:pPr>
            <a:r>
              <a:t>Sep–Oct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6634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Start for Spring 2027 intake</a:t>
            </a:r>
          </a:p>
        </p:txBody>
      </p:sp>
      <p:sp>
        <p:nvSpPr>
          <p:cNvPr id="60" name="Oval 59"/>
          <p:cNvSpPr/>
          <p:nvPr/>
        </p:nvSpPr>
        <p:spPr>
          <a:xfrm>
            <a:off x="6492240" y="5093208"/>
            <a:ext cx="182880" cy="18288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504748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Calibri"/>
              </a:defRPr>
            </a:pPr>
            <a:r>
              <a:t>Nov–Dec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504748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Document preparation begins</a:t>
            </a:r>
          </a:p>
        </p:txBody>
      </p:sp>
      <p:sp>
        <p:nvSpPr>
          <p:cNvPr id="63" name="Oval 62"/>
          <p:cNvSpPr/>
          <p:nvPr/>
        </p:nvSpPr>
        <p:spPr>
          <a:xfrm>
            <a:off x="6492240" y="5477256"/>
            <a:ext cx="182880" cy="182880"/>
          </a:xfrm>
          <a:prstGeom prst="ellipse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0" y="54315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41A"/>
                </a:solidFill>
                <a:latin typeface="Calibri"/>
              </a:defRPr>
            </a:pPr>
            <a:r>
              <a:t>Jan–Mar 2027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543153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Start for Fall 2027 intake</a:t>
            </a:r>
          </a:p>
        </p:txBody>
      </p:sp>
      <p:sp>
        <p:nvSpPr>
          <p:cNvPr id="66" name="Oval 65"/>
          <p:cNvSpPr/>
          <p:nvPr/>
        </p:nvSpPr>
        <p:spPr>
          <a:xfrm>
            <a:off x="6492240" y="5861303"/>
            <a:ext cx="182880" cy="182880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0" y="5815583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A1F44"/>
                </a:solidFill>
                <a:latin typeface="Calibri"/>
              </a:defRPr>
            </a:pPr>
            <a:r>
              <a:t>Jan–Apr 2027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0" y="5815583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Universitaly pre-enrollment</a:t>
            </a:r>
          </a:p>
        </p:txBody>
      </p:sp>
      <p:sp>
        <p:nvSpPr>
          <p:cNvPr id="69" name="Oval 68"/>
          <p:cNvSpPr/>
          <p:nvPr/>
        </p:nvSpPr>
        <p:spPr>
          <a:xfrm>
            <a:off x="6492240" y="6245351"/>
            <a:ext cx="182880" cy="18288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0" y="6199631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Calibri"/>
              </a:defRPr>
            </a:pPr>
            <a:r>
              <a:t>Feb–Apr 2027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619963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Submission to universities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Следующие шаги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743200" cy="54864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82296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45920"/>
            <a:ext cx="457200" cy="457200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5448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2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Partner discusses proposal with management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Партнёр обсуждает предложение с руководством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63040"/>
            <a:ext cx="5394960" cy="82296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19" y="1645920"/>
            <a:ext cx="457200" cy="45720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19" y="16459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79" y="155448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2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Edupath provides due diligence package (5 days)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Edupath предоставляет пакет due diligence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3160"/>
            <a:ext cx="5394960" cy="82296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51460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2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Partner conducts legal review (4–6 weeks)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Партнёр проводит юридический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423160"/>
            <a:ext cx="5394960" cy="82296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19" y="2606040"/>
            <a:ext cx="457200" cy="457200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19" y="2606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251460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2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Partner identifies 3–5 interested graduates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Партнёр определяет 3–5 выпускников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383280"/>
            <a:ext cx="5394960" cy="82296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3566160"/>
            <a:ext cx="457200" cy="45720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5661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47472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2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Free introductory online session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Бесплатная ознакомительная сессия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383280"/>
            <a:ext cx="5394960" cy="82296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19" y="3566160"/>
            <a:ext cx="457200" cy="457200"/>
          </a:xfrm>
          <a:prstGeom prst="ellipse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19" y="35661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347472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2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Sign formal MOU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Подписание формального MOU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43400"/>
            <a:ext cx="5394960" cy="82296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4526280"/>
            <a:ext cx="457200" cy="457200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526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43484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2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Students choose package — document prep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Студенты выбирают пакет — подготовка документов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4343400"/>
            <a:ext cx="5394960" cy="82296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19" y="4526280"/>
            <a:ext cx="457200" cy="45720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19" y="4526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79" y="443484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2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Universitaly registration (Jan–Feb 2027)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Регистрация на Universitaly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303520"/>
            <a:ext cx="5394960" cy="82296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5800" y="5486400"/>
            <a:ext cx="457200" cy="457200"/>
          </a:xfrm>
          <a:prstGeom prst="ellipse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486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539496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2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Submission to Italian universities (Feb–Apr 2027)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Подача в итальянские университеты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5303520"/>
            <a:ext cx="5394960" cy="82296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46519" y="5486400"/>
            <a:ext cx="457200" cy="457200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19" y="5486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79" y="539496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2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Next meeting — 4–6 weeks after this document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Следующая встреча — через 4–6 недель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457200"/>
            <a:ext cx="2743200" cy="2743200"/>
          </a:xfrm>
          <a:prstGeom prst="ellipse">
            <a:avLst/>
          </a:prstGeom>
          <a:solidFill>
            <a:srgbClr val="1B3A6B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00A6A6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Let's Build the Path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4B41A"/>
                </a:solidFill>
                <a:latin typeface="Calibri"/>
              </a:defRPr>
            </a:pPr>
            <a:r>
              <a:t>Давайте строить путь вместе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8503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919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Anar Hasanov  |  Edupath Education  |  Italy, Lazio</a:t>
            </a:r>
          </a:p>
          <a:p>
            <a:pPr algn="ctr">
              <a:spcAft>
                <a:spcPts val="51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759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Legal address: Via Roma 37, Italy</a:t>
            </a:r>
          </a:p>
          <a:p>
            <a:pPr algn="ctr">
              <a:spcAft>
                <a:spcPts val="759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Email: hasanov.anar.2023@gmail.com</a:t>
            </a:r>
          </a:p>
          <a:p>
            <a:pPr algn="ctr">
              <a:spcAft>
                <a:spcPts val="759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Phone: +39 328 081 0631</a:t>
            </a:r>
          </a:p>
          <a:p>
            <a:pPr algn="ctr">
              <a:spcAft>
                <a:spcPts val="759"/>
              </a:spcAft>
              <a:defRPr sz="1400" b="0">
                <a:solidFill>
                  <a:srgbClr val="00A6A6"/>
                </a:solidFill>
                <a:latin typeface="Calibri"/>
              </a:defRPr>
            </a:pPr>
            <a:r>
              <a:t>Emergency line: +39 328 081 0613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