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41648" y="0"/>
            <a:ext cx="73152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303520"/>
            <a:ext cx="2286000" cy="54864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731520"/>
            <a:ext cx="1645920" cy="1645920"/>
          </a:xfrm>
          <a:prstGeom prst="ellipse">
            <a:avLst/>
          </a:prstGeom>
          <a:solidFill>
            <a:srgbClr val="00A6A6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4572000"/>
            <a:ext cx="2286000" cy="2286000"/>
          </a:xfrm>
          <a:prstGeom prst="ellipse">
            <a:avLst/>
          </a:prstGeom>
          <a:solidFill>
            <a:srgbClr val="1B4D9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EDUPATH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4B41A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6400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39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University Admission to Italy</a:t>
            </a:r>
          </a:p>
          <a:p>
            <a:pPr algn="l">
              <a:spcAft>
                <a:spcPts val="839"/>
              </a:spcAft>
              <a:defRPr sz="2000" b="0">
                <a:solidFill>
                  <a:srgbClr val="B0C4DE"/>
                </a:solidFill>
                <a:latin typeface="Calibri"/>
              </a:defRPr>
            </a:pPr>
            <a:r>
              <a:t>Поступление в университеты Италии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19"/>
              </a:spcAft>
              <a:defRPr sz="1600" b="1">
                <a:solidFill>
                  <a:srgbClr val="00A6A6"/>
                </a:solidFill>
                <a:latin typeface="Calibri"/>
              </a:defRPr>
            </a:pPr>
            <a:r>
              <a:t>Service Packages &amp; Partnership Proposal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8090B0"/>
                </a:solidFill>
                <a:latin typeface="Calibri"/>
              </a:defRPr>
            </a:pPr>
            <a:r>
              <a:t>Пакеты услуг и партнёрское предложение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7080A0"/>
                </a:solidFill>
                <a:latin typeface="Calibri"/>
              </a:defRPr>
            </a:pPr>
            <a:r>
              <a:t>August 2026  |  Anar Hasanov, Italy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2286000"/>
            <a:ext cx="548640" cy="109728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24160" y="2286000"/>
            <a:ext cx="548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2286000"/>
            <a:ext cx="548640" cy="10972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Calibri"/>
              </a:defRPr>
            </a:pPr>
            <a:r>
              <a:t>About Edupath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Calibri"/>
              </a:defRPr>
            </a:pPr>
            <a:r>
              <a:t>О компании Edupath Education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9436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5486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80"/>
              </a:spcAft>
              <a:defRPr sz="1800" b="1">
                <a:solidFill>
                  <a:srgbClr val="1B4D9E"/>
                </a:solidFill>
                <a:latin typeface="Calibri"/>
              </a:defRPr>
            </a:pPr>
            <a:r>
              <a:t>Who we are</a:t>
            </a:r>
          </a:p>
          <a:p>
            <a:pPr algn="l">
              <a:spcAft>
                <a:spcPts val="68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68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Edupath Education is a consulting company based in Italy (near Rome). We specialize in placing international graduates into Italian universities and operate through a university channel — partnering with source universities.</a:t>
            </a:r>
          </a:p>
          <a:p>
            <a:pPr algn="l">
              <a:spcAft>
                <a:spcPts val="68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680"/>
              </a:spcAft>
              <a:defRPr sz="1300" b="0">
                <a:solidFill>
                  <a:srgbClr val="5A5A6E"/>
                </a:solidFill>
                <a:latin typeface="Calibri"/>
              </a:defRPr>
            </a:pPr>
            <a:r>
              <a:t>Edupath Education — консалтинговая компания в Италии (под Римом). Мы занимаемся поступлением международных выпускников в итальянские университеты и работаем по университетскому каналу — партнёримся с вузами-источниками.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280160"/>
            <a:ext cx="4754880" cy="777240"/>
          </a:xfrm>
          <a:prstGeom prst="round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325880"/>
            <a:ext cx="1097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325880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Students / year</a:t>
            </a:r>
          </a:p>
          <a:p>
            <a:pPr algn="l">
              <a:spcAft>
                <a:spcPts val="36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Студентов в год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194560"/>
            <a:ext cx="4754880" cy="777240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240280"/>
            <a:ext cx="1097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Admission rate</a:t>
            </a:r>
          </a:p>
          <a:p>
            <a:pPr algn="l">
              <a:spcAft>
                <a:spcPts val="36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Уровень зачисления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108960"/>
            <a:ext cx="4754880" cy="777240"/>
          </a:xfrm>
          <a:prstGeom prst="round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3154680"/>
            <a:ext cx="1097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54680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Scholarship rate</a:t>
            </a:r>
          </a:p>
          <a:p>
            <a:pPr algn="l">
              <a:spcAft>
                <a:spcPts val="36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Стипендия DSU/EDISU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A1F44"/>
                </a:solidFill>
                <a:latin typeface="Calibri"/>
              </a:defRPr>
            </a:pPr>
            <a:r>
              <a:t>Our Advantages  |  Наши преимущества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3566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54864" cy="868680"/>
          </a:xfrm>
          <a:prstGeom prst="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45152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39"/>
              </a:spcAft>
              <a:defRPr sz="1300" b="1">
                <a:solidFill>
                  <a:srgbClr val="1B4D9E"/>
                </a:solidFill>
                <a:latin typeface="Calibri"/>
              </a:defRPr>
            </a:pPr>
            <a:r>
              <a:t>Based in Italy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Находимся в Италии</a:t>
            </a:r>
          </a:p>
          <a:p>
            <a:pPr algn="l">
              <a:spcAft>
                <a:spcPts val="439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Work with universities in person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572000"/>
            <a:ext cx="3566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4572000"/>
            <a:ext cx="54864" cy="8686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645152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39"/>
              </a:spcAft>
              <a:defRPr sz="1300" b="1">
                <a:solidFill>
                  <a:srgbClr val="00A6A6"/>
                </a:solidFill>
                <a:latin typeface="Calibri"/>
              </a:defRPr>
            </a:pPr>
            <a:r>
              <a:t>Scholarship specialists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Стипендии DSU/EDISU</a:t>
            </a:r>
          </a:p>
          <a:p>
            <a:pPr algn="l">
              <a:spcAft>
                <a:spcPts val="439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Tuition + stipend + housing + meals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572000"/>
            <a:ext cx="3566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4572000"/>
            <a:ext cx="54864" cy="86868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645152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39"/>
              </a:spcAft>
              <a:defRPr sz="1300" b="1">
                <a:solidFill>
                  <a:srgbClr val="F4B41A"/>
                </a:solidFill>
                <a:latin typeface="Calibri"/>
              </a:defRPr>
            </a:pPr>
            <a:r>
              <a:t>B2B university channel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B2B университетский канал</a:t>
            </a:r>
          </a:p>
          <a:p>
            <a:pPr algn="l">
              <a:spcAft>
                <a:spcPts val="439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Personalized, not mass B2C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577840"/>
            <a:ext cx="3566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577840"/>
            <a:ext cx="54864" cy="8686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650992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39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Full-duration support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Сопровождение до выпуска</a:t>
            </a:r>
          </a:p>
          <a:p>
            <a:pPr algn="l">
              <a:spcAft>
                <a:spcPts val="439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From application to diploma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5577840"/>
            <a:ext cx="3566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5577840"/>
            <a:ext cx="54864" cy="86868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5650992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39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t>24/7 emergency support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Экстренная поддержка 24/7</a:t>
            </a:r>
          </a:p>
          <a:p>
            <a:pPr algn="l">
              <a:spcAft>
                <a:spcPts val="439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Hotline for students &amp; parents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Calibri"/>
              </a:defRPr>
            </a:pPr>
            <a:r>
              <a:t>Results &amp;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Calibri"/>
              </a:defRPr>
            </a:pPr>
            <a:r>
              <a:t>Результаты и кейс-стади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B4D9E"/>
                </a:solidFill>
                <a:latin typeface="Calibri"/>
              </a:defRPr>
            </a:pPr>
            <a:r>
              <a:t>Partner Universities  |  Университеты-партнёры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Università di Bologna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28600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2402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Università degli Studi di Milano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60604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5603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Università degli Studi di Padova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92608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88036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Sapienza Università di Roma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24612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2004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Politecnico di Milano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56616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52044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Politecnico di Torino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3886199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840479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Università Iuav di Venezia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20624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1605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Sorbonne Université (FR)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52628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48056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Université Paris-Saclay (FR)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84632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8006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TU München (DE)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5166360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12064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Humboldt-Universität zu Berlin (DE)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486399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440679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University of Warsaw (PL)</a:t>
            </a:r>
          </a:p>
        </p:txBody>
      </p:sp>
      <p:sp>
        <p:nvSpPr>
          <p:cNvPr id="32" name="Oval 31"/>
          <p:cNvSpPr/>
          <p:nvPr/>
        </p:nvSpPr>
        <p:spPr>
          <a:xfrm>
            <a:off x="914400" y="5806439"/>
            <a:ext cx="109728" cy="10972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760719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Jagiellonian University (PL)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B4D9E"/>
                </a:solidFill>
                <a:latin typeface="Calibri"/>
              </a:defRPr>
            </a:pPr>
            <a:r>
              <a:t>Case Studies  |  Кейс-стади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737360"/>
            <a:ext cx="5486400" cy="210312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737360"/>
            <a:ext cx="5486400" cy="54864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1920240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19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Case Study A  |  Кейс А</a:t>
            </a:r>
          </a:p>
          <a:p>
            <a:pPr algn="l">
              <a:spcAft>
                <a:spcPts val="519"/>
              </a:spcAft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519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Student A, Bachelor's in Economics, Azerbaijan</a:t>
            </a:r>
          </a:p>
          <a:p>
            <a:pPr algn="l">
              <a:spcAft>
                <a:spcPts val="519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Студент А, бакалавр Экономика, Азербайджан</a:t>
            </a:r>
          </a:p>
          <a:p>
            <a:pPr algn="l">
              <a:spcAft>
                <a:spcPts val="519"/>
              </a:spcAft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519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→ Admitted to Università di Pavia, LM-77</a:t>
            </a:r>
          </a:p>
          <a:p>
            <a:pPr algn="l">
              <a:spcAft>
                <a:spcPts val="519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→ EDISU Lombardia scholarship approved</a:t>
            </a:r>
          </a:p>
          <a:p>
            <a:pPr algn="l">
              <a:spcAft>
                <a:spcPts val="519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→ 2-year full support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023360"/>
            <a:ext cx="5486400" cy="2103120"/>
          </a:xfrm>
          <a:prstGeom prst="round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023360"/>
            <a:ext cx="5486400" cy="54864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206240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19"/>
              </a:spcAft>
              <a:defRPr sz="1400" b="1">
                <a:solidFill>
                  <a:srgbClr val="F4B41A"/>
                </a:solidFill>
                <a:latin typeface="Calibri"/>
              </a:defRPr>
            </a:pPr>
            <a:r>
              <a:t>Case Study B  |  Кейс Б</a:t>
            </a:r>
          </a:p>
          <a:p>
            <a:pPr algn="l">
              <a:spcAft>
                <a:spcPts val="519"/>
              </a:spcAft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519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Student B, Master's in International Relations</a:t>
            </a:r>
          </a:p>
          <a:p>
            <a:pPr algn="l">
              <a:spcAft>
                <a:spcPts val="519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Студент Б, магистратура Международные отношения</a:t>
            </a:r>
          </a:p>
          <a:p>
            <a:pPr algn="l">
              <a:spcAft>
                <a:spcPts val="519"/>
              </a:spcAft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519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→ Admitted to Università di Macerata, LM-52</a:t>
            </a:r>
          </a:p>
          <a:p>
            <a:pPr algn="l">
              <a:spcAft>
                <a:spcPts val="519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→ ERDIS Marche scholarship approved (free dorm + stipend)</a:t>
            </a:r>
          </a:p>
          <a:p>
            <a:pPr algn="l">
              <a:spcAft>
                <a:spcPts val="519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→ Full support package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"/>
            <a:ext cx="1828800" cy="1828800"/>
          </a:xfrm>
          <a:prstGeom prst="ellipse">
            <a:avLst/>
          </a:prstGeom>
          <a:solidFill>
            <a:srgbClr val="1B4D9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2286000" cy="2286000"/>
          </a:xfrm>
          <a:prstGeom prst="ellipse">
            <a:avLst/>
          </a:prstGeom>
          <a:solidFill>
            <a:srgbClr val="00A6A6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DSU/EDISU Scholarships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Региональные стипендии Италии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2743200" cy="54864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0972800" cy="1097280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8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scholarship covers:  tuition + annual stipend up to €7,000 + accommodation + meals</a:t>
            </a:r>
          </a:p>
          <a:p>
            <a:pPr algn="l">
              <a:spcAft>
                <a:spcPts val="680"/>
              </a:spcAft>
              <a:defRPr sz="1400" b="0">
                <a:solidFill>
                  <a:srgbClr val="D0F0F0"/>
                </a:solidFill>
                <a:latin typeface="Calibri"/>
              </a:defRPr>
            </a:pPr>
            <a:r>
              <a:t>Стипендия покрывает:  обучение + ежегодная стипендия до €7,000 + общежитие + питание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2651760" cy="1645920"/>
          </a:xfrm>
          <a:prstGeom prst="round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2286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19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Tuition</a:t>
            </a:r>
          </a:p>
          <a:p>
            <a:pPr algn="ctr">
              <a:spcAft>
                <a:spcPts val="51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Обучение</a:t>
            </a:r>
          </a:p>
          <a:p>
            <a:pPr algn="ctr">
              <a:spcAft>
                <a:spcPts val="51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€0 for student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926080"/>
            <a:ext cx="2651760" cy="1645920"/>
          </a:xfrm>
          <a:prstGeom prst="round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3108960"/>
            <a:ext cx="2286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19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Stipend</a:t>
            </a:r>
          </a:p>
          <a:p>
            <a:pPr algn="ctr">
              <a:spcAft>
                <a:spcPts val="51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Стипендия</a:t>
            </a:r>
          </a:p>
          <a:p>
            <a:pPr algn="ctr">
              <a:spcAft>
                <a:spcPts val="51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Up to €7,000/year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926080"/>
            <a:ext cx="2651760" cy="1645920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39" y="3108960"/>
            <a:ext cx="2286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19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Accommodation</a:t>
            </a:r>
          </a:p>
          <a:p>
            <a:pPr algn="ctr">
              <a:spcAft>
                <a:spcPts val="51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Общежитие</a:t>
            </a:r>
          </a:p>
          <a:p>
            <a:pPr algn="ctr">
              <a:spcAft>
                <a:spcPts val="51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Free dormitory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2926080"/>
            <a:ext cx="2651760" cy="164592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599" y="3108960"/>
            <a:ext cx="2286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19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Meals</a:t>
            </a:r>
          </a:p>
          <a:p>
            <a:pPr algn="ctr">
              <a:spcAft>
                <a:spcPts val="51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Питание</a:t>
            </a:r>
          </a:p>
          <a:p>
            <a:pPr algn="ctr">
              <a:spcAft>
                <a:spcPts val="51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Meal plan included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37760"/>
            <a:ext cx="10972800" cy="1188720"/>
          </a:xfrm>
          <a:prstGeom prst="round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10058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19"/>
              </a:spcAft>
              <a:defRPr sz="1500" b="1">
                <a:solidFill>
                  <a:srgbClr val="F4B41A"/>
                </a:solidFill>
                <a:latin typeface="Calibri"/>
              </a:defRPr>
            </a:pPr>
            <a:r>
              <a:t>How it works  |  Как это работает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Awarded based on family income (ISEE) + academic performance. We handle ISEE preparation, submission, appeals, and annual renewal.</a:t>
            </a:r>
          </a:p>
          <a:p>
            <a:pPr algn="l">
              <a:spcAft>
                <a:spcPts val="519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Назначается по доходу семьи (ISEE) + академическая успеваемость. Мы готовим ISEE, подаём заявку, апеллируем при отказе, продлеваем ежегодно.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Calibri"/>
              </a:defRPr>
            </a:pPr>
            <a:r>
              <a:t>Service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Calibri"/>
              </a:defRPr>
            </a:pPr>
            <a:r>
              <a:t>Пакеты услуг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731520"/>
          </a:xfrm>
          <a:prstGeom prst="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Package 1 — Admission Concierge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Пакет 1 — Консьерж поступления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B4D9E"/>
                </a:solidFill>
                <a:latin typeface="Calibri"/>
              </a:defRPr>
            </a:pPr>
            <a:r>
              <a:t>€1,950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A5A6E"/>
                </a:solidFill>
                <a:latin typeface="Calibri"/>
              </a:defRPr>
            </a:pPr>
            <a:r>
              <a:t>Duration: 2–4 months  |  Срок: 2–4 месяца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8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Program selection (up to 5 universities)</a:t>
            </a:r>
          </a:p>
          <a:p>
            <a:pPr algn="l">
              <a:spcAft>
                <a:spcPts val="28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Подбор программ (до 5 вузов)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661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8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Document audit &amp; submission</a:t>
            </a:r>
          </a:p>
          <a:p>
            <a:pPr algn="l">
              <a:spcAft>
                <a:spcPts val="28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Аудит документов и подача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0233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8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Tracking &amp; admission confirmation</a:t>
            </a:r>
          </a:p>
          <a:p>
            <a:pPr algn="l">
              <a:spcAft>
                <a:spcPts val="28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Отслеживание и подтверждение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805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8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24/7 emergency support</a:t>
            </a:r>
          </a:p>
          <a:p>
            <a:pPr algn="l">
              <a:spcAft>
                <a:spcPts val="28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Экстренная поддержка 24/7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377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8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DSU/EDISU scholarship</a:t>
            </a:r>
          </a:p>
          <a:p>
            <a:pPr algn="l">
              <a:spcAft>
                <a:spcPts val="28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Стипендия DSU/EDISU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3949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8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Codice Fiscale + bank account</a:t>
            </a:r>
          </a:p>
          <a:p>
            <a:pPr algn="l">
              <a:spcAft>
                <a:spcPts val="28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Codice Fiscale + счёт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521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8521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8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Full-duration support</a:t>
            </a:r>
          </a:p>
          <a:p>
            <a:pPr algn="l">
              <a:spcAft>
                <a:spcPts val="28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Сопровождение на весь срок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28016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280160"/>
            <a:ext cx="5303520" cy="7315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325880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Package 2 — Full Package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B0E0E0"/>
                </a:solidFill>
                <a:latin typeface="Calibri"/>
              </a:defRPr>
            </a:pPr>
            <a:r>
              <a:t>Пакет 2 — Полный пакет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1945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0A6A6"/>
                </a:solidFill>
                <a:latin typeface="Calibri"/>
              </a:defRPr>
            </a:pPr>
            <a:r>
              <a:t>€2,340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A5A6E"/>
                </a:solidFill>
                <a:latin typeface="Calibri"/>
              </a:defRPr>
            </a:pPr>
            <a:r>
              <a:t>Duration: 2 years  |  Срок: 2 года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1089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1089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8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Program selection (up to 5 universities)</a:t>
            </a:r>
          </a:p>
          <a:p>
            <a:pPr algn="l">
              <a:spcAft>
                <a:spcPts val="28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Подбор программ (до 5 вузов)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5661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5661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8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Document audit &amp; submission</a:t>
            </a:r>
          </a:p>
          <a:p>
            <a:pPr algn="l">
              <a:spcAft>
                <a:spcPts val="28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Аудит документов и подача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0233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0233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8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DSU/EDISU scholarship + ISEE + renewal</a:t>
            </a:r>
          </a:p>
          <a:p>
            <a:pPr algn="l">
              <a:spcAft>
                <a:spcPts val="28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Стипендия DSU/EDISU + ISEE + продление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4805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4805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8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Codice Fiscale + bank account</a:t>
            </a:r>
          </a:p>
          <a:p>
            <a:pPr algn="l">
              <a:spcAft>
                <a:spcPts val="28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Codice Fiscale + банковский счёт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9377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9377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8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Full-duration support (entire degree)</a:t>
            </a:r>
          </a:p>
          <a:p>
            <a:pPr algn="l">
              <a:spcAft>
                <a:spcPts val="28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Сопровождение на весь срок обучения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3949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53949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8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24/7 emergency support</a:t>
            </a:r>
          </a:p>
          <a:p>
            <a:pPr algn="l">
              <a:spcAft>
                <a:spcPts val="28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Экстренная поддержка 24/7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8521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58521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8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Scholarship: tuition + €7,000 + housing + meals</a:t>
            </a:r>
          </a:p>
          <a:p>
            <a:pPr algn="l">
              <a:spcAft>
                <a:spcPts val="280"/>
              </a:spcAft>
              <a:defRPr sz="1000" b="0">
                <a:solidFill>
                  <a:srgbClr val="5A5A6E"/>
                </a:solidFill>
                <a:latin typeface="Calibri"/>
              </a:defRPr>
            </a:pPr>
            <a:r>
              <a:t>Стипендия: обучение + €7,000 + жильё + питание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Calibri"/>
              </a:defRPr>
            </a:pPr>
            <a:r>
              <a:t>Add-ons &amp; Full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Calibri"/>
              </a:defRPr>
            </a:pPr>
            <a:r>
              <a:t>Доп. услуги и полная стоимость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Add-on Services  |  Дополнительные услуги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86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4864" cy="822960"/>
          </a:xfrm>
          <a:prstGeom prst="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4D9E"/>
                </a:solidFill>
                <a:latin typeface="Calibri"/>
              </a:defRPr>
            </a:pPr>
            <a:r>
              <a:t>Housing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848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Поиск жилья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874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1B4D9E"/>
                </a:solidFill>
                <a:latin typeface="Calibri"/>
              </a:defRPr>
            </a:pPr>
            <a:r>
              <a:t>€455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 month — room/apartment + contract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486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54864" cy="82296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706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A6A6"/>
                </a:solidFill>
                <a:latin typeface="Calibri"/>
              </a:defRPr>
            </a:pPr>
            <a:r>
              <a:t>Airport pickup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4495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Встреча в аэропорту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8346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00A6A6"/>
                </a:solidFill>
                <a:latin typeface="Calibri"/>
              </a:defRPr>
            </a:pPr>
            <a:r>
              <a:t>€130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461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Rome/Milan airport + transfer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86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54864" cy="82296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7307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4B41A"/>
                </a:solidFill>
                <a:latin typeface="Calibri"/>
              </a:defRPr>
            </a:pPr>
            <a:r>
              <a:t>Adaptation package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005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Адаптационный пакет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79476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F4B41A"/>
                </a:solidFill>
                <a:latin typeface="Calibri"/>
              </a:defRPr>
            </a:pPr>
            <a:r>
              <a:t>€520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0624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SIM card, city orientation, transport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617720"/>
            <a:ext cx="5486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617720"/>
            <a:ext cx="54864" cy="82296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6908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Calibri"/>
              </a:defRPr>
            </a:pPr>
            <a:r>
              <a:t>TOLC/IMAT prep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96519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Подготовка TOLC/IMAT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7548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1">
                <a:solidFill>
                  <a:srgbClr val="FF6B6B"/>
                </a:solidFill>
                <a:latin typeface="Calibri"/>
              </a:defRPr>
            </a:pPr>
            <a:r>
              <a:t>€390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6636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Materials + exam registration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Full Cost of Studying in Italy  |  Полная стоимость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7373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17830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Edupath services (Pkg 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178308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€2,340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178308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A6E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1945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22402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Flights (round trip)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24028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€600–1,200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224028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A6E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6517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26974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Health insurance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269748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€150–350/yr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269748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A6E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1089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31546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Personal expenses (1st mo.)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315468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€500–800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315468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A6E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3566160"/>
            <a:ext cx="5212080" cy="38404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36118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University tuition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361188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€200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361188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A6E"/>
                </a:solidFill>
                <a:latin typeface="Calibri"/>
              </a:defRPr>
            </a:pPr>
            <a:r>
              <a:t>Scholarship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4023360"/>
            <a:ext cx="5212080" cy="38404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40690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Accommodation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406908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€0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406908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A6E"/>
                </a:solidFill>
                <a:latin typeface="Calibri"/>
              </a:defRPr>
            </a:pPr>
            <a:r>
              <a:t>Scholarship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4480560"/>
            <a:ext cx="5212080" cy="38404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0" y="45262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Meals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452628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€0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452628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A6E"/>
                </a:solidFill>
                <a:latin typeface="Calibri"/>
              </a:defRPr>
            </a:pPr>
            <a:r>
              <a:t>Scholarship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49377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49834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Annual stipend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498348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B41A"/>
                </a:solidFill>
                <a:latin typeface="Calibri"/>
              </a:defRPr>
            </a:pPr>
            <a:r>
              <a:t>Up to €7,000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498348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A5A6E"/>
                </a:solidFill>
                <a:latin typeface="Calibri"/>
              </a:defRPr>
            </a:pPr>
            <a:r>
              <a:t>Paid to student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0" y="5486400"/>
            <a:ext cx="5212080" cy="640080"/>
          </a:xfrm>
          <a:prstGeom prst="round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0" y="553212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Total student start-up cost: €3,590 – €4,690</a:t>
            </a:r>
          </a:p>
          <a:p>
            <a:pPr algn="l">
              <a:spcAft>
                <a:spcPts val="360"/>
              </a:spcAft>
              <a:defRPr sz="1100" b="0">
                <a:solidFill>
                  <a:srgbClr val="B0C4DE"/>
                </a:solidFill>
                <a:latin typeface="Calibri"/>
              </a:defRPr>
            </a:pPr>
            <a:r>
              <a:t>Итого затрат студента (старт): €3,590 – €4,690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Safety &amp; Emergency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Безопасность и экстренная поддержка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74320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0972800" cy="91440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19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24/7 Hotline  |  Горячая линия 24/7</a:t>
            </a:r>
          </a:p>
          <a:p>
            <a:pPr algn="l">
              <a:spcAft>
                <a:spcPts val="519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+39 328 081 0613 — for students and parents  |  для студентов и родителей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3566160" cy="1371600"/>
          </a:xfrm>
          <a:prstGeom prst="round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Local Contact</a:t>
            </a:r>
          </a:p>
          <a:p>
            <a:pPr algn="l">
              <a:spcAft>
                <a:spcPts val="519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Локальный контакт</a:t>
            </a:r>
          </a:p>
          <a:p>
            <a:pPr algn="l">
              <a:spcAft>
                <a:spcPts val="51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51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Edupath representative in every university 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566160" cy="1371600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92608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Parent Updates</a:t>
            </a:r>
          </a:p>
          <a:p>
            <a:pPr algn="l">
              <a:spcAft>
                <a:spcPts val="519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Связь с родителями</a:t>
            </a:r>
          </a:p>
          <a:p>
            <a:pPr algn="l">
              <a:spcAft>
                <a:spcPts val="51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51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Regular updates every 2 weeks on student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743200"/>
            <a:ext cx="3566160" cy="1371600"/>
          </a:xfrm>
          <a:prstGeom prst="round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92608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Lost Documents</a:t>
            </a:r>
          </a:p>
          <a:p>
            <a:pPr algn="l">
              <a:spcAft>
                <a:spcPts val="519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Потеря документов</a:t>
            </a:r>
          </a:p>
          <a:p>
            <a:pPr algn="l">
              <a:spcAft>
                <a:spcPts val="51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51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Passport replacement assistance via consulate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89120"/>
            <a:ext cx="3566160" cy="137160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Legal Assistance</a:t>
            </a:r>
          </a:p>
          <a:p>
            <a:pPr algn="l">
              <a:spcAft>
                <a:spcPts val="519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Юридическая помощь</a:t>
            </a:r>
          </a:p>
          <a:p>
            <a:pPr algn="l">
              <a:spcAft>
                <a:spcPts val="51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51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Coordination with local lawyer when 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389120"/>
            <a:ext cx="3566160" cy="137160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457200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Psychological Support</a:t>
            </a:r>
          </a:p>
          <a:p>
            <a:pPr algn="l">
              <a:spcAft>
                <a:spcPts val="519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Психологическая поддержка</a:t>
            </a:r>
          </a:p>
          <a:p>
            <a:pPr algn="l">
              <a:spcAft>
                <a:spcPts val="51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51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Referral to English-speaking psychologist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389120"/>
            <a:ext cx="3566160" cy="1371600"/>
          </a:xfrm>
          <a:prstGeom prst="round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457200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1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Emergency Response</a:t>
            </a:r>
          </a:p>
          <a:p>
            <a:pPr algn="l">
              <a:spcAft>
                <a:spcPts val="519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Экстренный запрос</a:t>
            </a:r>
          </a:p>
          <a:p>
            <a:pPr algn="l">
              <a:spcAft>
                <a:spcPts val="51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51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Response within 2 hours, 24/7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Calibri"/>
              </a:defRPr>
            </a:pPr>
            <a:r>
              <a:t>Partnership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Calibri"/>
              </a:defRPr>
            </a:pPr>
            <a:r>
              <a:t>Условия партнёрства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54864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Commission  |  Комиссия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19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15% of package price per admitted student</a:t>
            </a:r>
          </a:p>
          <a:p>
            <a:pPr algn="l">
              <a:spcAft>
                <a:spcPts val="519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15% от стоимости пакета за каждого зачисленного студента</a:t>
            </a:r>
          </a:p>
          <a:p>
            <a:pPr algn="l">
              <a:spcAft>
                <a:spcPts val="519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519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Example: 5 students × €2,340 × 15% = €1,755 per cycle</a:t>
            </a:r>
          </a:p>
          <a:p>
            <a:pPr algn="l">
              <a:spcAft>
                <a:spcPts val="519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Alternatives: 10% student discount, or combined (5% discount + 10% commission)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303520" cy="548640"/>
          </a:xfrm>
          <a:prstGeom prst="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2588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Payment Terms  |  Условия оплаты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39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Student: 50% on signing, 50% after admission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Студент: 50% при подписании, 50% после зачисления</a:t>
            </a:r>
          </a:p>
          <a:p>
            <a:pPr algn="l">
              <a:spcAft>
                <a:spcPts val="439"/>
              </a:spcAft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Partner commission: paid within 30 days of admission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Комиссия партнёру: в течение 30 дней после зачисления</a:t>
            </a:r>
          </a:p>
          <a:p>
            <a:pPr algn="l">
              <a:spcAft>
                <a:spcPts val="439"/>
              </a:spcAft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200" b="1">
                <a:solidFill>
                  <a:srgbClr val="1B4D9E"/>
                </a:solidFill>
                <a:latin typeface="Calibri"/>
              </a:defRPr>
            </a:pPr>
            <a:r>
              <a:t>Payment in EUR via bank transfer  |  Оплата в евро, банковский перевод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Refund Policy  |  Политика возврата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97680"/>
            <a:ext cx="1106424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54864" cy="4114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434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Not admitted to any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3434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100% refund minus €195 admin fee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00600"/>
            <a:ext cx="1106424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800600"/>
            <a:ext cx="54864" cy="41148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463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Admitted but no scholarship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8463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B41A"/>
                </a:solidFill>
                <a:latin typeface="Calibri"/>
              </a:defRPr>
            </a:pPr>
            <a:r>
              <a:t>50% refund of Package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03520"/>
            <a:ext cx="1106424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303520"/>
            <a:ext cx="54864" cy="4114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Student's fault (missed deadlines)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3492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No refund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806440"/>
            <a:ext cx="1106424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54864" cy="41148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85216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Force majeure (visa/policy change)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8521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100% refund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Calibri"/>
              </a:defRPr>
            </a:pPr>
            <a:r>
              <a:t>SLA &amp; Strategic Partnership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Calibri"/>
              </a:defRPr>
            </a:pPr>
            <a:r>
              <a:t>SLA и стратегические компоненты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Service Level Agreement  |  SLA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86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4864" cy="502920"/>
          </a:xfrm>
          <a:prstGeom prst="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D9E"/>
                </a:solidFill>
                <a:latin typeface="Calibri"/>
              </a:defRPr>
            </a:pPr>
            <a:r>
              <a:t>Student inquiry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105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Within 48 hours (business days)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31720"/>
            <a:ext cx="5486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31720"/>
            <a:ext cx="54864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0487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A6A6"/>
                </a:solidFill>
                <a:latin typeface="Calibri"/>
              </a:defRPr>
            </a:pPr>
            <a:r>
              <a:t>Parent inquiry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40487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Within 24 hours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26080"/>
            <a:ext cx="5486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926080"/>
            <a:ext cx="54864" cy="5029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9923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Calibri"/>
              </a:defRPr>
            </a:pPr>
            <a:r>
              <a:t>Emergency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99923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Within 2 hours (24/7)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5486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54864" cy="50292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59359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4B41A"/>
                </a:solidFill>
                <a:latin typeface="Calibri"/>
              </a:defRPr>
            </a:pPr>
            <a:r>
              <a:t>Partner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5935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Quarterly report on all students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14800"/>
            <a:ext cx="5486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54864" cy="50292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8795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Escalation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1879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Direct to Anar Hasanov → partner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Strategic Components  |  Стратегические компоненты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737360"/>
            <a:ext cx="52120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737360"/>
            <a:ext cx="54864" cy="777240"/>
          </a:xfrm>
          <a:prstGeom prst="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181051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60"/>
              </a:spcAft>
              <a:defRPr sz="1400" b="1">
                <a:solidFill>
                  <a:srgbClr val="1B4D9E"/>
                </a:solidFill>
                <a:latin typeface="Calibri"/>
              </a:defRPr>
            </a:pPr>
            <a:r>
              <a:t>Faculty Exchange</a:t>
            </a:r>
          </a:p>
          <a:p>
            <a:pPr algn="l">
              <a:spcAft>
                <a:spcPts val="360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Обмен преподавателями</a:t>
            </a:r>
          </a:p>
          <a:p>
            <a:pPr algn="l">
              <a:spcAft>
                <a:spcPts val="36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1–2 faculty/year — guest lectures in Italy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651760"/>
            <a:ext cx="52120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2651760"/>
            <a:ext cx="54864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272491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60"/>
              </a:spcAft>
              <a:defRPr sz="1400" b="1">
                <a:solidFill>
                  <a:srgbClr val="00A6A6"/>
                </a:solidFill>
                <a:latin typeface="Calibri"/>
              </a:defRPr>
            </a:pPr>
            <a:r>
              <a:t>Summer Schools</a:t>
            </a:r>
          </a:p>
          <a:p>
            <a:pPr algn="l">
              <a:spcAft>
                <a:spcPts val="360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Летние школы</a:t>
            </a:r>
          </a:p>
          <a:p>
            <a:pPr algn="l">
              <a:spcAft>
                <a:spcPts val="36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Joint 1–2 week program in Italy for partner students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566160"/>
            <a:ext cx="52120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566160"/>
            <a:ext cx="54864" cy="77724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63931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60"/>
              </a:spcAft>
              <a:defRPr sz="1400" b="1">
                <a:solidFill>
                  <a:srgbClr val="F4B41A"/>
                </a:solidFill>
                <a:latin typeface="Calibri"/>
              </a:defRPr>
            </a:pPr>
            <a:r>
              <a:t>Branding</a:t>
            </a:r>
          </a:p>
          <a:p>
            <a:pPr algn="l">
              <a:spcAft>
                <a:spcPts val="360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Брендинг</a:t>
            </a:r>
          </a:p>
          <a:p>
            <a:pPr algn="l">
              <a:spcAft>
                <a:spcPts val="36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Partner logo on Edupath materials; joint presentations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480560"/>
            <a:ext cx="52120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4480560"/>
            <a:ext cx="54864" cy="7772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455371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6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Training</a:t>
            </a:r>
          </a:p>
          <a:p>
            <a:pPr algn="l">
              <a:spcAft>
                <a:spcPts val="360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Тренинги</a:t>
            </a:r>
          </a:p>
          <a:p>
            <a:pPr algn="l">
              <a:spcAft>
                <a:spcPts val="36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Quarterly training on Italian education system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029200"/>
            <a:ext cx="11064240" cy="118872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120640"/>
            <a:ext cx="10058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19"/>
              </a:spcAft>
              <a:defRPr sz="1600" b="1">
                <a:solidFill>
                  <a:srgbClr val="F4B41A"/>
                </a:solidFill>
                <a:latin typeface="Calibri"/>
              </a:defRPr>
            </a:pPr>
            <a:r>
              <a:t>Pilot Program  |  Пилотный проект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3–5 students in the first cycle, free introductory online session, no obligations on either side. Due diligence: 4–6 weeks before pilot starts.</a:t>
            </a:r>
          </a:p>
          <a:p>
            <a:pPr algn="l">
              <a:spcAft>
                <a:spcPts val="519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3–5 студентов в первом цикле, бесплатная ознакомительная сессия, без обязательств. Due diligence: 4–6 недель до старта пилота.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Calibri"/>
              </a:defRPr>
            </a:pPr>
            <a:r>
              <a:t>Partner Universities — Architecture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Calibri"/>
              </a:defRPr>
            </a:pPr>
            <a:r>
              <a:t>Вузы-партнёры — Архитектура и Дизайн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Architecture  |  Архитектура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Politecnico di Milano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74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Milan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874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74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874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F6B6B"/>
                </a:solidFill>
                <a:latin typeface="Calibri"/>
              </a:defRPr>
            </a:pPr>
            <a:r>
              <a:t>TOLC-A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3172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774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Politecnico di Torino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774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Turin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37744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37744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774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F6B6B"/>
                </a:solidFill>
                <a:latin typeface="Calibri"/>
              </a:defRPr>
            </a:pPr>
            <a:r>
              <a:t>TOLC-A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83464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803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Sapienza Università di Roma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88036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Rome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288036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88036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88036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F6B6B"/>
                </a:solidFill>
                <a:latin typeface="Calibri"/>
              </a:defRPr>
            </a:pPr>
            <a:r>
              <a:t>TOLC-A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33756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3832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Iuav di Venezia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3832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Venice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338328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38328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3832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F6B6B"/>
                </a:solidFill>
                <a:latin typeface="Calibri"/>
              </a:defRPr>
            </a:pPr>
            <a:r>
              <a:t>TOLC-A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84048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8862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di Firenze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38862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Florence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38862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38862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38862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F6B6B"/>
                </a:solidFill>
                <a:latin typeface="Calibri"/>
              </a:defRPr>
            </a:pPr>
            <a:r>
              <a:t>TOLC-A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34340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3891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di Napoli Federico II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3891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Naples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0" y="43891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43891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43891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F6B6B"/>
                </a:solidFill>
                <a:latin typeface="Calibri"/>
              </a:defRPr>
            </a:pPr>
            <a:r>
              <a:t>TOLC-A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1280160"/>
            <a:ext cx="5303520" cy="4572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1298448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Design  |  Дизайн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1828800"/>
            <a:ext cx="530352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18653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Politecnico di Milano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1865376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6E"/>
                </a:solidFill>
                <a:latin typeface="Calibri"/>
              </a:defRPr>
            </a:pPr>
            <a:r>
              <a:t>Milan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1865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1865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60" y="2286000"/>
            <a:ext cx="530352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23225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Politecnico di Torino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2322576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6E"/>
                </a:solidFill>
                <a:latin typeface="Calibri"/>
              </a:defRPr>
            </a:pPr>
            <a:r>
              <a:t>Turin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23225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23225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60" y="2743200"/>
            <a:ext cx="530352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27797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IED — Istituto Europeo di Design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2779776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6E"/>
                </a:solidFill>
                <a:latin typeface="Calibri"/>
              </a:defRPr>
            </a:pPr>
            <a:r>
              <a:t>Milan/Rome/Turin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24160" y="27797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27797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9360" y="3200400"/>
            <a:ext cx="530352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32369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NABA — Nuova Accademia di Belle Arti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3236976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6E"/>
                </a:solidFill>
                <a:latin typeface="Calibri"/>
              </a:defRPr>
            </a:pPr>
            <a:r>
              <a:t>Milan/Rome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60" y="32369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0" y="32369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09360" y="3657600"/>
            <a:ext cx="530352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92240" y="36941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Domus Academy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35440" y="3694176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6E"/>
                </a:solidFill>
                <a:latin typeface="Calibri"/>
              </a:defRPr>
            </a:pPr>
            <a:r>
              <a:t>Milan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24160" y="36941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EN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36941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09360" y="4114800"/>
            <a:ext cx="530352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92240" y="41513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Iuav di Venezia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35440" y="4151376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6E"/>
                </a:solidFill>
                <a:latin typeface="Calibri"/>
              </a:defRPr>
            </a:pPr>
            <a:r>
              <a:t>Venice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424160" y="4151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IT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72800" y="4151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09360" y="4572000"/>
            <a:ext cx="530352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92240" y="46085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SPD — Scuola Politecnica di Design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35440" y="4608576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6E"/>
                </a:solidFill>
                <a:latin typeface="Calibri"/>
              </a:defRPr>
            </a:pPr>
            <a:r>
              <a:t>Milan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24160" y="46085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972800" y="46085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48640" y="5303520"/>
            <a:ext cx="11064240" cy="822960"/>
          </a:xfrm>
          <a:prstGeom prst="round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19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Public: €1,000–3,500/year (DSU/EDISU applies)  |  Private: €10,000–20,000/year (no DSU/EDISU)</a:t>
            </a:r>
          </a:p>
          <a:p>
            <a:pPr algn="l">
              <a:spcAft>
                <a:spcPts val="519"/>
              </a:spcAft>
              <a:defRPr sz="1100" b="0">
                <a:solidFill>
                  <a:srgbClr val="5A5A6E"/>
                </a:solidFill>
                <a:latin typeface="Calibri"/>
              </a:defRPr>
            </a:pPr>
            <a:r>
              <a:t>Государственные: €1,000–3,500/год (DSU/EDISU)  |  Частные: €10,000–20,000/год (без DSU/EDISU)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Calibri"/>
              </a:defRPr>
            </a:pPr>
            <a:r>
              <a:t>Partner Universities — Business &amp;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Calibri"/>
              </a:defRPr>
            </a:pPr>
            <a:r>
              <a:t>Вузы-партнёры — Бизнес и Экономика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560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298448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298448"/>
            <a:ext cx="731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298448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298448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298448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Programs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8288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Bocconi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828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Milan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828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Calibri"/>
              </a:defRPr>
            </a:pPr>
            <a:r>
              <a:t>Private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D9E"/>
                </a:solidFill>
                <a:latin typeface="Calibri"/>
              </a:defRPr>
            </a:pPr>
            <a:r>
              <a:t>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828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288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International Management, Finance, Marketing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240280"/>
            <a:ext cx="11064240" cy="4114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286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LUISS Guido Carli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2860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Rome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2860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Calibri"/>
              </a:defRPr>
            </a:pPr>
            <a:r>
              <a:t>Private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2860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D9E"/>
                </a:solidFill>
                <a:latin typeface="Calibri"/>
              </a:defRPr>
            </a:pPr>
            <a:r>
              <a:t>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2860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2860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Management &amp; Technology, Economics, Politics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69748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27432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di Bologna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27432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Bologna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27432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27432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D9E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27432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7432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Business &amp; Economics, LM-77, LM-56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154680"/>
            <a:ext cx="11064240" cy="4114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2004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Cattolica del Sacro Cuore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32004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Milan/Rome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32004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Calibri"/>
              </a:defRPr>
            </a:pPr>
            <a:r>
              <a:t>Private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2004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D9E"/>
                </a:solidFill>
                <a:latin typeface="Calibri"/>
              </a:defRPr>
            </a:pPr>
            <a:r>
              <a:t>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2004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2004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Business Management, International Business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61188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6576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Ca' Foscari Venezia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36576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Venice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36576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36576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D9E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36576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36576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Management, Economics, International Marketing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069080"/>
            <a:ext cx="11064240" cy="4114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1148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di Padova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4114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Padua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60" y="4114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4114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D9E"/>
                </a:solidFill>
                <a:latin typeface="Calibri"/>
              </a:defRPr>
            </a:pPr>
            <a:r>
              <a:t>EN/IT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4114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41148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Business Administration, Economics &amp; Finance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52628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4572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Sapienza Università di Roma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0" y="45720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Rome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45720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80" y="45720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D9E"/>
                </a:solidFill>
                <a:latin typeface="Calibri"/>
              </a:defRPr>
            </a:pPr>
            <a:r>
              <a:t>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0720" y="45720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B/M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45720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Economia e Commercio, LM-77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983480"/>
            <a:ext cx="11064240" cy="4114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50292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di Pavia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91840" y="50292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Pavia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80560" y="50292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12080" y="50292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D9E"/>
                </a:solidFill>
                <a:latin typeface="Calibri"/>
              </a:defRPr>
            </a:pPr>
            <a:r>
              <a:t>IT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60720" y="50292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50292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LM-77, LM-56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54864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F44"/>
                </a:solidFill>
                <a:latin typeface="Calibri"/>
              </a:defRPr>
            </a:pPr>
            <a:r>
              <a:t>Università di Perugia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91840" y="54864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Perugia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80560" y="54864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12080" y="54864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D9E"/>
                </a:solidFill>
                <a:latin typeface="Calibri"/>
              </a:defRPr>
            </a:pPr>
            <a:r>
              <a:t>IT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60720" y="54864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B41A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0" y="54864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LM-77, International Economics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48640" y="5943600"/>
            <a:ext cx="11064240" cy="457200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2960" y="5971032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Also available: IT Management, Law, Foreign Languages, Engineering, Fashion  |  Также: IT-менеджмент, Право, Языки, Инженерия, Fashion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F44"/>
                </a:solidFill>
                <a:latin typeface="Calibri"/>
              </a:defRPr>
            </a:pPr>
            <a:r>
              <a:t>Admission Requirements &amp;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Calibri"/>
              </a:defRPr>
            </a:pPr>
            <a:r>
              <a:t>Требования и сроки поступления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Requirements  |  Требования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4864" cy="411480"/>
          </a:xfrm>
          <a:prstGeom prst="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D9E"/>
                </a:solidFill>
                <a:latin typeface="Calibri"/>
              </a:defRPr>
            </a:pPr>
            <a:r>
              <a:t>GPA (Bachelor's)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783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Min 75/100 or 3.0/4.0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4028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40280"/>
            <a:ext cx="54864" cy="411480"/>
          </a:xfrm>
          <a:prstGeom prst="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860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D9E"/>
                </a:solidFill>
                <a:latin typeface="Calibri"/>
              </a:defRPr>
            </a:pPr>
            <a:r>
              <a:t>GPA (Master's)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Min 80/100 or 3.2/4.0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4320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54864" cy="411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7889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A6A6"/>
                </a:solidFill>
                <a:latin typeface="Calibri"/>
              </a:defRPr>
            </a:pPr>
            <a:r>
              <a:t>English (EN programs)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7889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IELTS 6.0–6.5 or TOEFL 80–90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4612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46120"/>
            <a:ext cx="54864" cy="411480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918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B41A"/>
                </a:solidFill>
                <a:latin typeface="Calibri"/>
              </a:defRPr>
            </a:pPr>
            <a:r>
              <a:t>Italian (IT programs)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2918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B2 — CILS, CELI, or PLIDA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49039"/>
            <a:ext cx="54864" cy="4114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794759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GMAT/GRE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794759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Some business programs (Bocconi, LUISS)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25196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251960"/>
            <a:ext cx="54864" cy="4114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2976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Portfolio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2976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Architecture and design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754880"/>
            <a:ext cx="5486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754880"/>
            <a:ext cx="54864" cy="41148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800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Motivation letter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800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Most Master's programs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Entrance Exams  |  Вступительные экзамены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1737360"/>
            <a:ext cx="521208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1737360"/>
            <a:ext cx="54864" cy="384048"/>
          </a:xfrm>
          <a:prstGeom prst="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17739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D9E"/>
                </a:solidFill>
                <a:latin typeface="Calibri"/>
              </a:defRPr>
            </a:pPr>
            <a:r>
              <a:t>TOLC-A / TOLC-AV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177393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Architecture (limited enrollment)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2194560"/>
            <a:ext cx="521208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2194560"/>
            <a:ext cx="54864" cy="38404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22311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A6A6"/>
                </a:solidFill>
                <a:latin typeface="Calibri"/>
              </a:defRPr>
            </a:pPr>
            <a:r>
              <a:t>TOLC-I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223113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Engineering, some design (PoliMi)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2651760"/>
            <a:ext cx="521208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2651760"/>
            <a:ext cx="54864" cy="384048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26883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B41A"/>
                </a:solidFill>
                <a:latin typeface="Calibri"/>
              </a:defRPr>
            </a:pPr>
            <a:r>
              <a:t>TOLC-E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268833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Economics (some programs)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3108960"/>
            <a:ext cx="521208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3108960"/>
            <a:ext cx="54864" cy="38404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31455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IMAT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314553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Medicine (in English)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3566160"/>
            <a:ext cx="521208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0" y="3566160"/>
            <a:ext cx="54864" cy="384048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36027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Bocconi Test / SAT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360273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Bocconi Bachelor's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2062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Timeline  |  Сроки</a:t>
            </a:r>
          </a:p>
        </p:txBody>
      </p:sp>
      <p:sp>
        <p:nvSpPr>
          <p:cNvPr id="57" name="Oval 56"/>
          <p:cNvSpPr/>
          <p:nvPr/>
        </p:nvSpPr>
        <p:spPr>
          <a:xfrm>
            <a:off x="6492240" y="4709160"/>
            <a:ext cx="182880" cy="182880"/>
          </a:xfrm>
          <a:prstGeom prst="ellipse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0" y="46634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D9E"/>
                </a:solidFill>
                <a:latin typeface="Calibri"/>
              </a:defRPr>
            </a:pPr>
            <a:r>
              <a:t>Sep–Oct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46634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Start for Spring 2027 intake</a:t>
            </a:r>
          </a:p>
        </p:txBody>
      </p:sp>
      <p:sp>
        <p:nvSpPr>
          <p:cNvPr id="60" name="Oval 59"/>
          <p:cNvSpPr/>
          <p:nvPr/>
        </p:nvSpPr>
        <p:spPr>
          <a:xfrm>
            <a:off x="6492240" y="5093208"/>
            <a:ext cx="182880" cy="18288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0" y="504748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A6A6"/>
                </a:solidFill>
                <a:latin typeface="Calibri"/>
              </a:defRPr>
            </a:pPr>
            <a:r>
              <a:t>Nov–Dec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504748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Document preparation begins</a:t>
            </a:r>
          </a:p>
        </p:txBody>
      </p:sp>
      <p:sp>
        <p:nvSpPr>
          <p:cNvPr id="63" name="Oval 62"/>
          <p:cNvSpPr/>
          <p:nvPr/>
        </p:nvSpPr>
        <p:spPr>
          <a:xfrm>
            <a:off x="6492240" y="5477256"/>
            <a:ext cx="182880" cy="182880"/>
          </a:xfrm>
          <a:prstGeom prst="ellipse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0" y="54315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B41A"/>
                </a:solidFill>
                <a:latin typeface="Calibri"/>
              </a:defRPr>
            </a:pPr>
            <a:r>
              <a:t>Jan–Mar 2027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543153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Start for Fall 2027 intake</a:t>
            </a:r>
          </a:p>
        </p:txBody>
      </p:sp>
      <p:sp>
        <p:nvSpPr>
          <p:cNvPr id="66" name="Oval 65"/>
          <p:cNvSpPr/>
          <p:nvPr/>
        </p:nvSpPr>
        <p:spPr>
          <a:xfrm>
            <a:off x="6492240" y="5861303"/>
            <a:ext cx="182880" cy="18288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58000" y="5815583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Jan–Apr 2027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0" y="5815583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Universitaly pre-enrollment</a:t>
            </a:r>
          </a:p>
        </p:txBody>
      </p:sp>
      <p:sp>
        <p:nvSpPr>
          <p:cNvPr id="69" name="Oval 68"/>
          <p:cNvSpPr/>
          <p:nvPr/>
        </p:nvSpPr>
        <p:spPr>
          <a:xfrm>
            <a:off x="6492240" y="6245351"/>
            <a:ext cx="182880" cy="18288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00" y="6199631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Feb–Apr 2027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619963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Submission to universities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Следующие шаги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743200" cy="54864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822960"/>
          </a:xfrm>
          <a:prstGeom prst="roundRect">
            <a:avLst/>
          </a:prstGeom>
          <a:solidFill>
            <a:srgbClr val="12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45920"/>
            <a:ext cx="457200" cy="457200"/>
          </a:xfrm>
          <a:prstGeom prst="ellipse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5448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Partner discusses proposal with management</a:t>
            </a:r>
          </a:p>
          <a:p>
            <a:pPr algn="l">
              <a:spcAft>
                <a:spcPts val="36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Партнёр обсуждает предложение с руководством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63040"/>
            <a:ext cx="5394960" cy="822960"/>
          </a:xfrm>
          <a:prstGeom prst="roundRect">
            <a:avLst/>
          </a:prstGeom>
          <a:solidFill>
            <a:srgbClr val="12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19" y="1645920"/>
            <a:ext cx="457200" cy="45720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19" y="16459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79" y="155448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Edupath provides due diligence package (5 days)</a:t>
            </a:r>
          </a:p>
          <a:p>
            <a:pPr algn="l">
              <a:spcAft>
                <a:spcPts val="36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Edupath предоставляет пакет due diligence (5 дней)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3160"/>
            <a:ext cx="5394960" cy="822960"/>
          </a:xfrm>
          <a:prstGeom prst="roundRect">
            <a:avLst/>
          </a:prstGeom>
          <a:solidFill>
            <a:srgbClr val="12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2606040"/>
            <a:ext cx="457200" cy="457200"/>
          </a:xfrm>
          <a:prstGeom prst="ellipse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51460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Partner conducts legal review (4–6 weeks)</a:t>
            </a:r>
          </a:p>
          <a:p>
            <a:pPr algn="l">
              <a:spcAft>
                <a:spcPts val="36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Партнёр проводит юридический review (4–6 недель)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423160"/>
            <a:ext cx="5394960" cy="822960"/>
          </a:xfrm>
          <a:prstGeom prst="roundRect">
            <a:avLst/>
          </a:prstGeom>
          <a:solidFill>
            <a:srgbClr val="12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19" y="260604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19" y="26060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251460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Partner identifies 3–5 interested graduates</a:t>
            </a:r>
          </a:p>
          <a:p>
            <a:pPr algn="l">
              <a:spcAft>
                <a:spcPts val="36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Партнёр определяет 3–5 выпускников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383280"/>
            <a:ext cx="5394960" cy="822960"/>
          </a:xfrm>
          <a:prstGeom prst="roundRect">
            <a:avLst/>
          </a:prstGeom>
          <a:solidFill>
            <a:srgbClr val="12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3566160"/>
            <a:ext cx="457200" cy="45720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5661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47472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Free introductory online session for students &amp; parents</a:t>
            </a:r>
          </a:p>
          <a:p>
            <a:pPr algn="l">
              <a:spcAft>
                <a:spcPts val="36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Бесплатная ознакомительная сессия для студентов и родителей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3383280"/>
            <a:ext cx="5394960" cy="822960"/>
          </a:xfrm>
          <a:prstGeom prst="roundRect">
            <a:avLst/>
          </a:prstGeom>
          <a:solidFill>
            <a:srgbClr val="12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19" y="3566160"/>
            <a:ext cx="457200" cy="457200"/>
          </a:xfrm>
          <a:prstGeom prst="ellipse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19" y="35661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79" y="347472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Sign formal MOU</a:t>
            </a:r>
          </a:p>
          <a:p>
            <a:pPr algn="l">
              <a:spcAft>
                <a:spcPts val="36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Подписание формального MOU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43400"/>
            <a:ext cx="5394960" cy="822960"/>
          </a:xfrm>
          <a:prstGeom prst="roundRect">
            <a:avLst/>
          </a:prstGeom>
          <a:solidFill>
            <a:srgbClr val="12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4526280"/>
            <a:ext cx="457200" cy="45720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526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43484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Students choose package — document prep (Nov–Dec 2026)</a:t>
            </a:r>
          </a:p>
          <a:p>
            <a:pPr algn="l">
              <a:spcAft>
                <a:spcPts val="36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Студенты выбирают пакет — подготовка документов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4343400"/>
            <a:ext cx="5394960" cy="822960"/>
          </a:xfrm>
          <a:prstGeom prst="roundRect">
            <a:avLst/>
          </a:prstGeom>
          <a:solidFill>
            <a:srgbClr val="12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19" y="4526280"/>
            <a:ext cx="457200" cy="457200"/>
          </a:xfrm>
          <a:prstGeom prst="ellipse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19" y="4526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79" y="443484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Universitaly registration (Jan–Feb 2027)</a:t>
            </a:r>
          </a:p>
          <a:p>
            <a:pPr algn="l">
              <a:spcAft>
                <a:spcPts val="36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Регистрация на Universitaly (янв–фев 2027)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303520"/>
            <a:ext cx="5394960" cy="822960"/>
          </a:xfrm>
          <a:prstGeom prst="roundRect">
            <a:avLst/>
          </a:prstGeom>
          <a:solidFill>
            <a:srgbClr val="12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85800" y="548640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4864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539496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Submission to Italian universities (Feb–Apr 2027)</a:t>
            </a:r>
          </a:p>
          <a:p>
            <a:pPr algn="l">
              <a:spcAft>
                <a:spcPts val="36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Подача в итальянские университеты (фев–апр 2027)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59" y="5303520"/>
            <a:ext cx="5394960" cy="822960"/>
          </a:xfrm>
          <a:prstGeom prst="roundRect">
            <a:avLst/>
          </a:prstGeom>
          <a:solidFill>
            <a:srgbClr val="12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46519" y="5486400"/>
            <a:ext cx="457200" cy="45720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19" y="54864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79" y="539496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Next meeting — 4–6 weeks after receiving this document</a:t>
            </a:r>
          </a:p>
          <a:p>
            <a:pPr algn="l">
              <a:spcAft>
                <a:spcPts val="360"/>
              </a:spcAft>
              <a:defRPr sz="1000" b="0">
                <a:solidFill>
                  <a:srgbClr val="8090B0"/>
                </a:solidFill>
                <a:latin typeface="Calibri"/>
              </a:defRPr>
            </a:pPr>
            <a:r>
              <a:t>Следующая встреча — через 4–6 недель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5653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Edupath Education  |  Italy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5653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457200"/>
            <a:ext cx="2743200" cy="2743200"/>
          </a:xfrm>
          <a:prstGeom prst="ellipse">
            <a:avLst/>
          </a:prstGeom>
          <a:solidFill>
            <a:srgbClr val="1B4D9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00A6A6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B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0" y="1371600"/>
            <a:ext cx="640080" cy="128016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371600"/>
            <a:ext cx="6400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640080" cy="128016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Let's Build the Path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4B41A"/>
                </a:solidFill>
                <a:latin typeface="Calibri"/>
              </a:defRPr>
            </a:pPr>
            <a:r>
              <a:t>Давайте строить путь вместе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114800"/>
            <a:ext cx="8503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39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Anar Hasanov  |  Edupath Education  |  Italy, Lazio</a:t>
            </a:r>
          </a:p>
          <a:p>
            <a:pPr algn="ctr">
              <a:spcAft>
                <a:spcPts val="839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839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Legal address: Via Roma 37, Italy</a:t>
            </a:r>
          </a:p>
          <a:p>
            <a:pPr algn="ctr">
              <a:spcAft>
                <a:spcPts val="839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Email: hasanov.anar.2023@gmail.com</a:t>
            </a:r>
          </a:p>
          <a:p>
            <a:pPr algn="ctr">
              <a:spcAft>
                <a:spcPts val="839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Phone: +39 328 081 0631</a:t>
            </a:r>
          </a:p>
          <a:p>
            <a:pPr algn="ctr">
              <a:spcAft>
                <a:spcPts val="839"/>
              </a:spcAft>
              <a:defRPr sz="1400" b="0">
                <a:solidFill>
                  <a:srgbClr val="FF6B6B"/>
                </a:solidFill>
                <a:latin typeface="Calibri"/>
              </a:defRPr>
            </a:pPr>
            <a:r>
              <a:t>Emergency line: +39 328 081 0613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