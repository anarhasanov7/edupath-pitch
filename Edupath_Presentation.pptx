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6217920" cy="5943600"/>
          </a:xfrm>
          <a:prstGeom prst="roundRect">
            <a:avLst>
              <a:gd name="adj" fmla="val 3000"/>
            </a:avLst>
          </a:prstGeom>
          <a:ln>
            <a:noFill/>
          </a:ln>
          <a:effectLst/>
          <a:gradFill flip="none" rotWithShape="1">
            <a:gsLst>
              <a:gs pos="0">
                <a:srgbClr val="1C202E"/>
              </a:gs>
              <a:gs pos="100000">
                <a:srgbClr val="080A14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4114800"/>
            <a:ext cx="4572000" cy="4572000"/>
          </a:xfrm>
          <a:prstGeom prst="ellipse">
            <a:avLst/>
          </a:prstGeom>
          <a:solidFill>
            <a:srgbClr val="3DDF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4572000"/>
            <a:ext cx="2743200" cy="2743200"/>
          </a:xfrm>
          <a:prstGeom prst="ellipse">
            <a:avLst/>
          </a:prstGeom>
          <a:solidFill>
            <a:srgbClr val="FF3D8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A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50392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EDUPATH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Поступление</a:t>
            </a:r>
            <a:br/>
            <a:r>
              <a:t>в университеты</a:t>
            </a:r>
            <a:br/>
            <a:r>
              <a:t>Италии.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3DDFFF"/>
                </a:solidFill>
                <a:latin typeface="Calibri"/>
              </a:defRPr>
            </a:pPr>
            <a:r>
              <a:t>Пакеты услуг и партнёрство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6B7280"/>
                </a:solidFill>
                <a:latin typeface="Calibri"/>
              </a:defRPr>
            </a:pPr>
            <a:r>
              <a:t>B2B университетский канал · Сопровождение до выпуска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8B92A0"/>
                </a:solidFill>
                <a:latin typeface="Calibri"/>
              </a:defRPr>
            </a:pPr>
            <a:r>
              <a:t>Anar Hasanov  ·  +39 3280810631  ·  Italy, Lazio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57200"/>
            <a:ext cx="4846320" cy="182880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3DDFFF"/>
              </a:gs>
              <a:gs pos="100000">
                <a:srgbClr val="009ACC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6400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7200" b="1">
                <a:solidFill>
                  <a:srgbClr val="080A14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00584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080A14"/>
                </a:solidFill>
                <a:latin typeface="Calibri"/>
              </a:defRPr>
            </a:pPr>
            <a:r>
              <a:t>студентов</a:t>
            </a:r>
            <a:br/>
            <a:r>
              <a:t>в прошлом</a:t>
            </a:r>
            <a:br/>
            <a:r>
              <a:t>году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468880"/>
            <a:ext cx="2286000" cy="1828800"/>
          </a:xfrm>
          <a:prstGeom prst="roundRect">
            <a:avLst>
              <a:gd name="adj" fmla="val 6000"/>
            </a:avLst>
          </a:prstGeom>
          <a:ln>
            <a:noFill/>
          </a:ln>
          <a:effectLst/>
          <a:gradFill flip="none" rotWithShape="1">
            <a:gsLst>
              <a:gs pos="0">
                <a:srgbClr val="FF5C3D"/>
              </a:gs>
              <a:gs pos="100000">
                <a:srgbClr val="E03A1A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576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уровень</a:t>
            </a:r>
            <a:br/>
            <a:r>
              <a:t>зачисления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468880"/>
            <a:ext cx="2377440" cy="1828800"/>
          </a:xfrm>
          <a:prstGeom prst="roundRect">
            <a:avLst>
              <a:gd name="adj" fmla="val 6000"/>
            </a:avLst>
          </a:prstGeom>
          <a:ln>
            <a:noFill/>
          </a:ln>
          <a:effectLst/>
          <a:gradFill flip="none" rotWithShape="1">
            <a:gsLst>
              <a:gs pos="0">
                <a:srgbClr val="C6FF3D"/>
              </a:gs>
              <a:gs pos="100000">
                <a:srgbClr val="8BD01A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6517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4000" b="1">
                <a:solidFill>
                  <a:srgbClr val="080A14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6576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080A14"/>
                </a:solidFill>
                <a:latin typeface="Calibri"/>
              </a:defRPr>
            </a:pPr>
            <a:r>
              <a:t>получили</a:t>
            </a:r>
            <a:br/>
            <a:r>
              <a:t>стипендию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480560"/>
            <a:ext cx="4846320" cy="192024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1A1E30"/>
              </a:gs>
              <a:gs pos="100000">
                <a:srgbClr val="1C202E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754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6B7280"/>
                </a:solidFill>
                <a:latin typeface="Calibri"/>
              </a:defRPr>
            </a:pPr>
            <a:r>
              <a:t>СТИПЕНДИЯ DSU/EDISU ПОКРЫВАЕТ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212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3DDFFF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532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B92A0"/>
                </a:solidFill>
                <a:latin typeface="Calibri"/>
              </a:defRPr>
            </a:pPr>
            <a:r>
              <a:t>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212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3DDFFF"/>
                </a:solidFill>
                <a:latin typeface="Calibri"/>
              </a:defRPr>
            </a:pPr>
            <a:r>
              <a:t>до €7K/год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532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B92A0"/>
                </a:solidFill>
                <a:latin typeface="Calibri"/>
              </a:defRPr>
            </a:pPr>
            <a:r>
              <a:t>Стипендия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212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3DDFFF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5532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B92A0"/>
                </a:solidFill>
                <a:latin typeface="Calibri"/>
              </a:defRPr>
            </a:pPr>
            <a:r>
              <a:t>Общежитие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52120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3DDFFF"/>
                </a:solidFill>
                <a:latin typeface="Calibri"/>
              </a:defRPr>
            </a:pPr>
            <a:r>
              <a:t>€0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5532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B92A0"/>
                </a:solidFill>
                <a:latin typeface="Calibri"/>
              </a:defRPr>
            </a:pPr>
            <a:r>
              <a:t>Питание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600" b="1">
                <a:solidFill>
                  <a:srgbClr val="080A14"/>
                </a:solidFill>
                <a:latin typeface="Calibri"/>
              </a:defRPr>
            </a:pPr>
            <a:r>
              <a:t>Пакеты услуг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8B92A0"/>
                </a:solidFill>
                <a:latin typeface="Calibri"/>
              </a:defRPr>
            </a:pPr>
            <a:r>
              <a:t>Два пакета — от базового поступления до полного сопровождения.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3657600"/>
          </a:xfrm>
          <a:prstGeom prst="roundRect">
            <a:avLst>
              <a:gd name="adj" fmla="val 3000"/>
            </a:avLst>
          </a:prstGeom>
          <a:ln>
            <a:noFill/>
          </a:ln>
          <a:effectLst/>
          <a:gradFill flip="none" rotWithShape="1">
            <a:gsLst>
              <a:gs pos="0">
                <a:srgbClr val="1C202E"/>
              </a:gs>
              <a:gs pos="100000">
                <a:srgbClr val="080A14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3DDFFF"/>
                </a:solidFill>
                <a:latin typeface="Calibri"/>
              </a:defRPr>
            </a:pPr>
            <a:r>
              <a:t>PACKAGE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Admission Concierge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4000" b="1">
                <a:solidFill>
                  <a:srgbClr val="3DDFFF"/>
                </a:solidFill>
                <a:latin typeface="Calibri"/>
              </a:defRPr>
            </a:pPr>
            <a:r>
              <a:t>€1 950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6B7280"/>
                </a:solidFill>
                <a:latin typeface="Calibri"/>
              </a:defRPr>
            </a:pPr>
            <a:r>
              <a:t>2–4 месяца ведения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C8CED8"/>
                </a:solidFill>
                <a:latin typeface="Calibri"/>
              </a:rPr>
              <a:t>Подбор программ (до 5 вузов)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C8CED8"/>
                </a:solidFill>
                <a:latin typeface="Calibri"/>
              </a:rPr>
              <a:t>Аудит документов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C8CED8"/>
                </a:solidFill>
                <a:latin typeface="Calibri"/>
              </a:rPr>
              <a:t>Подача через платформы вузов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C8CED8"/>
                </a:solidFill>
                <a:latin typeface="Calibri"/>
              </a:rPr>
              <a:t>Отслеживание и зачисление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C8CED8"/>
                </a:solidFill>
                <a:latin typeface="Calibri"/>
              </a:rPr>
              <a:t>Экстренная поддержка 24/7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86400" cy="3657600"/>
          </a:xfrm>
          <a:prstGeom prst="roundRect">
            <a:avLst>
              <a:gd name="adj" fmla="val 3000"/>
            </a:avLst>
          </a:prstGeom>
          <a:ln>
            <a:noFill/>
          </a:ln>
          <a:effectLst/>
          <a:gradFill flip="none" rotWithShape="1">
            <a:gsLst>
              <a:gs pos="0">
                <a:srgbClr val="FF5C3D"/>
              </a:gs>
              <a:gs pos="100000">
                <a:srgbClr val="D03515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96596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E0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9339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900" b="1">
                <a:solidFill>
                  <a:srgbClr val="FFFFFF"/>
                </a:solidFill>
                <a:latin typeface="Calibri"/>
              </a:defRPr>
            </a:pPr>
            <a:r>
              <a:t>PACKAGE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Full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€2 340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FD0C0"/>
                </a:solidFill>
                <a:latin typeface="Calibri"/>
              </a:defRPr>
            </a:pPr>
            <a:r>
              <a:t>2 года сопровождения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FFFFFF"/>
                </a:solidFill>
                <a:latin typeface="Calibri"/>
              </a:rPr>
              <a:t>Всё из Package 1 +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FFFFFF"/>
                </a:solidFill>
                <a:latin typeface="Calibri"/>
              </a:rPr>
              <a:t>Стипендия DSU/EDISU + ISEE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FFFFFF"/>
                </a:solidFill>
                <a:latin typeface="Calibri"/>
              </a:rPr>
              <a:t>Codice Fiscale + банк. счёт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FFFFFF"/>
                </a:solidFill>
                <a:latin typeface="Calibri"/>
              </a:rPr>
              <a:t>Сопровождение весь срок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FF3D"/>
                </a:solidFill>
                <a:latin typeface="Calibri"/>
              </a:rPr>
              <a:t>✓  </a:t>
            </a:r>
            <a:r>
              <a:rPr sz="1100">
                <a:solidFill>
                  <a:srgbClr val="FFFFFF"/>
                </a:solidFill>
                <a:latin typeface="Calibri"/>
              </a:rPr>
              <a:t>Стипендия: €7K/год + общежитие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8B92A0"/>
                </a:solidFill>
                <a:latin typeface="Calibri"/>
              </a:defRPr>
            </a:pPr>
            <a:r>
              <a:t>ADD-ONS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06440"/>
            <a:ext cx="26517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989320"/>
            <a:ext cx="274320" cy="2743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flip="none" rotWithShape="1">
            <a:gsLst>
              <a:gs pos="0">
                <a:srgbClr val="3DDFFF"/>
              </a:gs>
              <a:gs pos="100000">
                <a:srgbClr val="3DD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978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2141F"/>
                </a:solidFill>
                <a:latin typeface="Calibri"/>
              </a:defRPr>
            </a:pPr>
            <a:r>
              <a:t>Поиск жилья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89788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300" b="1">
                <a:solidFill>
                  <a:srgbClr val="3DDFFF"/>
                </a:solidFill>
                <a:latin typeface="Calibri"/>
              </a:defRPr>
            </a:pPr>
            <a:r>
              <a:t>€455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8" y="5806440"/>
            <a:ext cx="26517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93008" y="5989320"/>
            <a:ext cx="274320" cy="2743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flip="none" rotWithShape="1">
            <a:gsLst>
              <a:gs pos="0">
                <a:srgbClr val="C6FF3D"/>
              </a:gs>
              <a:gs pos="100000">
                <a:srgbClr val="C6FF3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8" y="58978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2141F"/>
                </a:solidFill>
                <a:latin typeface="Calibri"/>
              </a:defRPr>
            </a:pPr>
            <a:r>
              <a:t>Аэропорт-встреча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589788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300" b="1">
                <a:solidFill>
                  <a:srgbClr val="C6FF3D"/>
                </a:solidFill>
                <a:latin typeface="Calibri"/>
              </a:defRPr>
            </a:pPr>
            <a:r>
              <a:t>€130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1616" y="5806440"/>
            <a:ext cx="26517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4496" y="5989320"/>
            <a:ext cx="274320" cy="2743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flip="none" rotWithShape="1">
            <a:gsLst>
              <a:gs pos="0">
                <a:srgbClr val="FFB800"/>
              </a:gs>
              <a:gs pos="100000">
                <a:srgbClr val="FFB80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5976" y="58978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2141F"/>
                </a:solidFill>
                <a:latin typeface="Calibri"/>
              </a:defRPr>
            </a:pPr>
            <a:r>
              <a:t>Адаптация (1 мес)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6" y="589788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300" b="1">
                <a:solidFill>
                  <a:srgbClr val="FFB800"/>
                </a:solidFill>
                <a:latin typeface="Calibri"/>
              </a:defRPr>
            </a:pPr>
            <a:r>
              <a:t>€520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33104" y="5806440"/>
            <a:ext cx="26517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15984" y="5989320"/>
            <a:ext cx="274320" cy="2743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flip="none" rotWithShape="1">
            <a:gsLst>
              <a:gs pos="0">
                <a:srgbClr val="FF3D8B"/>
              </a:gs>
              <a:gs pos="100000">
                <a:srgbClr val="FF3D8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5897880"/>
            <a:ext cx="1280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12141F"/>
                </a:solidFill>
                <a:latin typeface="Calibri"/>
              </a:defRPr>
            </a:pPr>
            <a:r>
              <a:t>TOLC/IMAT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589788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defRPr sz="1300" b="1">
                <a:solidFill>
                  <a:srgbClr val="FF3D8B"/>
                </a:solidFill>
                <a:latin typeface="Calibri"/>
              </a:defRPr>
            </a:pPr>
            <a:r>
              <a:t>€390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B92A0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600" b="1">
                <a:solidFill>
                  <a:srgbClr val="080A14"/>
                </a:solidFill>
                <a:latin typeface="Calibri"/>
              </a:defRPr>
            </a:pPr>
            <a:r>
              <a:t>Партнёрство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8B92A0"/>
                </a:solidFill>
                <a:latin typeface="Calibri"/>
              </a:defRPr>
            </a:pPr>
            <a:r>
              <a:t>Комиссия, SLA и следующие шаги к запуску пилота.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228600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1C202E"/>
              </a:gs>
              <a:gs pos="100000">
                <a:srgbClr val="080A14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КОМИССИЯ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64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6B7280"/>
                </a:solidFill>
                <a:latin typeface="Calibri"/>
              </a:defRPr>
            </a:pPr>
            <a:r>
              <a:t>от стоимости пакета</a:t>
            </a:r>
            <a:br/>
            <a:r>
              <a:t>за каждого зачисленного студента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FF5C3D"/>
                </a:solidFill>
                <a:latin typeface="Calibri"/>
              </a:defRPr>
            </a:pPr>
            <a:r>
              <a:t>ПРИМЕР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2141F"/>
                </a:solidFill>
                <a:latin typeface="Calibri"/>
              </a:defRPr>
            </a:pPr>
            <a:r>
              <a:t>5 × €2 340 × 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212080"/>
            <a:ext cx="2926080" cy="36576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5C3D"/>
              </a:gs>
              <a:gs pos="100000">
                <a:srgbClr val="FFB80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defRPr sz="3200" b="1">
                <a:solidFill>
                  <a:srgbClr val="FF5C3D"/>
                </a:solidFill>
                <a:latin typeface="Calibri"/>
              </a:defRPr>
            </a:pPr>
            <a:r>
              <a:t>= €1 755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8B92A0"/>
                </a:solidFill>
                <a:latin typeface="Calibri"/>
              </a:defRPr>
            </a:pPr>
            <a:r>
              <a:t>за один цикл набора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47472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40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94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1">
                <a:solidFill>
                  <a:srgbClr val="080A14"/>
                </a:solidFill>
                <a:latin typeface="Calibri"/>
              </a:defRPr>
            </a:pPr>
            <a:r>
              <a:t>Service 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34640"/>
            <a:ext cx="54864" cy="5486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DDFFF"/>
              </a:gs>
              <a:gs pos="100000">
                <a:srgbClr val="3DD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2141F"/>
                </a:solidFill>
                <a:latin typeface="Calibri"/>
              </a:defRPr>
            </a:pPr>
            <a:r>
              <a:t>Студент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108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B92A0"/>
                </a:solidFill>
                <a:latin typeface="Calibri"/>
              </a:defRPr>
            </a:pPr>
            <a:r>
              <a:t>запрос → ответ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9260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95351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3DDFFF"/>
                </a:solidFill>
                <a:latin typeface="Calibri"/>
              </a:defRPr>
            </a:pPr>
            <a:r>
              <a:t>48ч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611880"/>
            <a:ext cx="54864" cy="5486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C6FF3D"/>
              </a:gs>
              <a:gs pos="100000">
                <a:srgbClr val="C6FF3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2141F"/>
                </a:solidFill>
                <a:latin typeface="Calibri"/>
              </a:defRPr>
            </a:pPr>
            <a:r>
              <a:t>Родитель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86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B92A0"/>
                </a:solidFill>
                <a:latin typeface="Calibri"/>
              </a:defRPr>
            </a:pPr>
            <a:r>
              <a:t>запрос → ответ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7033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73075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C6FF3D"/>
                </a:solidFill>
                <a:latin typeface="Calibri"/>
              </a:defRPr>
            </a:pPr>
            <a:r>
              <a:t>24ч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4389120"/>
            <a:ext cx="54864" cy="5486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5C3D"/>
              </a:gs>
              <a:gs pos="100000">
                <a:srgbClr val="FF5C3D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4348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2141F"/>
                </a:solidFill>
                <a:latin typeface="Calibri"/>
              </a:defRPr>
            </a:pPr>
            <a:r>
              <a:t>Экстренный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6634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B92A0"/>
                </a:solidFill>
                <a:latin typeface="Calibri"/>
              </a:defRPr>
            </a:pPr>
            <a:r>
              <a:t>запрос → ответ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4805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50799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5C3D"/>
                </a:solidFill>
                <a:latin typeface="Calibri"/>
              </a:defRPr>
            </a:pPr>
            <a:r>
              <a:t>2ч 24/7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5166360"/>
            <a:ext cx="54864" cy="5486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B800"/>
              </a:gs>
              <a:gs pos="100000">
                <a:srgbClr val="FFB80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12141F"/>
                </a:solidFill>
                <a:latin typeface="Calibri"/>
              </a:defRPr>
            </a:pPr>
            <a:r>
              <a:t>Отчёт партнёру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4406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B92A0"/>
                </a:solidFill>
                <a:latin typeface="Calibri"/>
              </a:defRPr>
            </a:pPr>
            <a:r>
              <a:t>запрос → ответ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52578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285232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100" b="1">
                <a:solidFill>
                  <a:srgbClr val="FFB800"/>
                </a:solidFill>
                <a:latin typeface="Calibri"/>
              </a:defRPr>
            </a:pPr>
            <a:r>
              <a:t>ежекварт.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645920"/>
            <a:ext cx="3657600" cy="4754880"/>
          </a:xfrm>
          <a:prstGeom prst="roundRect">
            <a:avLst>
              <a:gd name="adj" fmla="val 3000"/>
            </a:avLst>
          </a:prstGeom>
          <a:ln>
            <a:noFill/>
          </a:ln>
          <a:effectLst/>
          <a:gradFill flip="none" rotWithShape="1">
            <a:gsLst>
              <a:gs pos="0">
                <a:srgbClr val="1C202E"/>
              </a:gs>
              <a:gs pos="100000">
                <a:srgbClr val="080A14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920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C6FF3D"/>
                </a:solidFill>
                <a:latin typeface="Calibri"/>
              </a:defRPr>
            </a:pPr>
            <a:r>
              <a:t>СЛЕДУЮЩИЕ ШАГИ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37744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3774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Обсуждение с руководством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0720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280720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Due diligence (5 дней)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23697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36976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Юридический review (4–6 нед.)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66674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666744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Отбор 3–5 студентов для пилота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096512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09651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Бесплатная ознакомит. сессия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52628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52628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Подписание MOU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956048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95604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Подготовка документов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385816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385816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Регистрация Universitaly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815584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1000" b="1">
                <a:solidFill>
                  <a:srgbClr val="3DD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815584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C0C8D4"/>
                </a:solidFill>
                <a:latin typeface="Calibri"/>
              </a:defRPr>
            </a:pPr>
            <a:r>
              <a:t>Подача в университеты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6446520"/>
            <a:ext cx="3657600" cy="36576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 flip="none" rotWithShape="1">
            <a:gsLst>
              <a:gs pos="0">
                <a:srgbClr val="FF5C3D"/>
              </a:gs>
              <a:gs pos="100000">
                <a:srgbClr val="FF3D8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47395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Anar Hasanov  ·  +39 3280810631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8B92A0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